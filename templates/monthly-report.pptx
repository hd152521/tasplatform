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950" r:id="rId1"/>
  </p:sldMasterIdLst>
  <p:notesMasterIdLst>
    <p:notesMasterId r:id="rId14"/>
  </p:notesMasterIdLst>
  <p:sldIdLst>
    <p:sldId id="256" r:id="rId2"/>
    <p:sldId id="257" r:id="rId3"/>
    <p:sldId id="499" r:id="rId4"/>
    <p:sldId id="267" r:id="rId5"/>
    <p:sldId id="500" r:id="rId6"/>
    <p:sldId id="503" r:id="rId7"/>
    <p:sldId id="501" r:id="rId8"/>
    <p:sldId id="502" r:id="rId9"/>
    <p:sldId id="504" r:id="rId10"/>
    <p:sldId id="265" r:id="rId11"/>
    <p:sldId id="505" r:id="rId12"/>
    <p:sldId id="506" r:id="rId13"/>
  </p:sldIdLst>
  <p:sldSz cx="9906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79222CB-0F81-46B6-A09E-D10E2F5DE1D0}" v="6" dt="2026-09-04T06:30:37.684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6740" autoAdjust="0"/>
    <p:restoredTop sz="94390" autoAdjust="0"/>
  </p:normalViewPr>
  <p:slideViewPr>
    <p:cSldViewPr snapToGrid="0" snapToObjects="1">
      <p:cViewPr>
        <p:scale>
          <a:sx n="100" d="100"/>
          <a:sy n="100" d="100"/>
        </p:scale>
        <p:origin x="1464" y="318"/>
      </p:cViewPr>
      <p:guideLst>
        <p:guide orient="horz" pos="2159"/>
        <p:guide pos="3839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10" cy="7201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Relationship Id="rId19" Type="http://schemas.microsoft.com/office/2016/11/relationships/changesInfo" Target="changesInfos/changesInfo1.xml"/><Relationship Id="rId2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승화 이" userId="3554c7f94d2af7a1" providerId="LiveId" clId="{6CBC0CEB-7B06-4778-939E-514403F5AC49}"/>
    <pc:docChg chg="undo custSel addSld delSld modSld sldOrd">
      <pc:chgData name="승화 이" userId="3554c7f94d2af7a1" providerId="LiveId" clId="{6CBC0CEB-7B06-4778-939E-514403F5AC49}" dt="2026-09-04T06:31:14.380" v="1688" actId="20577"/>
      <pc:docMkLst>
        <pc:docMk/>
      </pc:docMkLst>
      <pc:sldChg chg="modSp add mod ord">
        <pc:chgData name="승화 이" userId="3554c7f94d2af7a1" providerId="LiveId" clId="{6CBC0CEB-7B06-4778-939E-514403F5AC49}" dt="2026-09-01T04:51:15.546" v="842" actId="20577"/>
        <pc:sldMkLst>
          <pc:docMk/>
          <pc:sldMk cId="0" sldId="256"/>
        </pc:sldMkLst>
        <pc:spChg chg="mod">
          <ac:chgData name="승화 이" userId="3554c7f94d2af7a1" providerId="LiveId" clId="{6CBC0CEB-7B06-4778-939E-514403F5AC49}" dt="2026-09-01T04:51:15.546" v="842" actId="20577"/>
          <ac:spMkLst>
            <pc:docMk/>
            <pc:sldMk cId="0" sldId="256"/>
            <ac:spMk id="15" creationId="{00000000-0000-0000-0000-000000000000}"/>
          </ac:spMkLst>
        </pc:spChg>
        <pc:graphicFrameChg chg="mod modGraphic">
          <ac:chgData name="승화 이" userId="3554c7f94d2af7a1" providerId="LiveId" clId="{6CBC0CEB-7B06-4778-939E-514403F5AC49}" dt="2026-09-01T04:51:03.332" v="840" actId="20577"/>
          <ac:graphicFrameMkLst>
            <pc:docMk/>
            <pc:sldMk cId="0" sldId="256"/>
            <ac:graphicFrameMk id="11" creationId="{00000000-0000-0000-0000-000000000000}"/>
          </ac:graphicFrameMkLst>
        </pc:graphicFrameChg>
      </pc:sldChg>
      <pc:sldChg chg="modSp add mod ord">
        <pc:chgData name="승화 이" userId="3554c7f94d2af7a1" providerId="LiveId" clId="{6CBC0CEB-7B06-4778-939E-514403F5AC49}" dt="2026-09-01T04:51:31.464" v="846" actId="20577"/>
        <pc:sldMkLst>
          <pc:docMk/>
          <pc:sldMk cId="0" sldId="257"/>
        </pc:sldMkLst>
        <pc:spChg chg="mod">
          <ac:chgData name="승화 이" userId="3554c7f94d2af7a1" providerId="LiveId" clId="{6CBC0CEB-7B06-4778-939E-514403F5AC49}" dt="2026-09-01T04:51:27.123" v="844" actId="20577"/>
          <ac:spMkLst>
            <pc:docMk/>
            <pc:sldMk cId="0" sldId="257"/>
            <ac:spMk id="20" creationId="{00000000-0000-0000-0000-000000000000}"/>
          </ac:spMkLst>
        </pc:spChg>
        <pc:spChg chg="mod">
          <ac:chgData name="승화 이" userId="3554c7f94d2af7a1" providerId="LiveId" clId="{6CBC0CEB-7B06-4778-939E-514403F5AC49}" dt="2026-09-01T04:51:31.464" v="846" actId="20577"/>
          <ac:spMkLst>
            <pc:docMk/>
            <pc:sldMk cId="0" sldId="257"/>
            <ac:spMk id="25" creationId="{00000000-0000-0000-0000-000000000000}"/>
          </ac:spMkLst>
        </pc:spChg>
        <pc:graphicFrameChg chg="mod modGraphic">
          <ac:chgData name="승화 이" userId="3554c7f94d2af7a1" providerId="LiveId" clId="{6CBC0CEB-7B06-4778-939E-514403F5AC49}" dt="2026-09-01T04:47:30.360" v="836" actId="20577"/>
          <ac:graphicFrameMkLst>
            <pc:docMk/>
            <pc:sldMk cId="0" sldId="257"/>
            <ac:graphicFrameMk id="4" creationId="{00000000-0000-0000-0000-000000000000}"/>
          </ac:graphicFrameMkLst>
        </pc:graphicFrameChg>
      </pc:sldChg>
      <pc:sldChg chg="addSp delSp modSp mod">
        <pc:chgData name="승화 이" userId="3554c7f94d2af7a1" providerId="LiveId" clId="{6CBC0CEB-7B06-4778-939E-514403F5AC49}" dt="2026-09-04T06:31:14.380" v="1688" actId="20577"/>
        <pc:sldMkLst>
          <pc:docMk/>
          <pc:sldMk cId="0" sldId="265"/>
        </pc:sldMkLst>
        <pc:spChg chg="mod">
          <ac:chgData name="승화 이" userId="3554c7f94d2af7a1" providerId="LiveId" clId="{6CBC0CEB-7B06-4778-939E-514403F5AC49}" dt="2026-09-04T06:31:14.380" v="1688" actId="20577"/>
          <ac:spMkLst>
            <pc:docMk/>
            <pc:sldMk cId="0" sldId="265"/>
            <ac:spMk id="3" creationId="{00000000-0000-0000-0000-000000000000}"/>
          </ac:spMkLst>
        </pc:spChg>
        <pc:graphicFrameChg chg="mod modGraphic">
          <ac:chgData name="승화 이" userId="3554c7f94d2af7a1" providerId="LiveId" clId="{6CBC0CEB-7B06-4778-939E-514403F5AC49}" dt="2026-09-04T06:08:41.008" v="1342" actId="20577"/>
          <ac:graphicFrameMkLst>
            <pc:docMk/>
            <pc:sldMk cId="0" sldId="265"/>
            <ac:graphicFrameMk id="5" creationId="{00000000-0000-0000-0000-000000000000}"/>
          </ac:graphicFrameMkLst>
        </pc:graphicFrameChg>
      </pc:sldChg>
      <pc:sldChg chg="modSp add mod">
        <pc:chgData name="승화 이" userId="3554c7f94d2af7a1" providerId="LiveId" clId="{6CBC0CEB-7B06-4778-939E-514403F5AC49}" dt="2026-09-01T04:54:14.705" v="860" actId="20577"/>
        <pc:sldMkLst>
          <pc:docMk/>
          <pc:sldMk cId="0" sldId="267"/>
        </pc:sldMkLst>
        <pc:spChg chg="mod">
          <ac:chgData name="승화 이" userId="3554c7f94d2af7a1" providerId="LiveId" clId="{6CBC0CEB-7B06-4778-939E-514403F5AC49}" dt="2026-09-01T04:54:14.705" v="860" actId="20577"/>
          <ac:spMkLst>
            <pc:docMk/>
            <pc:sldMk cId="0" sldId="267"/>
            <ac:spMk id="3" creationId="{00000000-0000-0000-0000-000000000000}"/>
          </ac:spMkLst>
        </pc:spChg>
        <pc:spChg chg="mod">
          <ac:chgData name="승화 이" userId="3554c7f94d2af7a1" providerId="LiveId" clId="{6CBC0CEB-7B06-4778-939E-514403F5AC49}" dt="2026-09-01T04:51:49.265" v="852" actId="20577"/>
          <ac:spMkLst>
            <pc:docMk/>
            <pc:sldMk cId="0" sldId="267"/>
            <ac:spMk id="10" creationId="{00000000-0000-0000-0000-000000000000}"/>
          </ac:spMkLst>
        </pc:spChg>
        <pc:graphicFrameChg chg="modGraphic">
          <ac:chgData name="승화 이" userId="3554c7f94d2af7a1" providerId="LiveId" clId="{6CBC0CEB-7B06-4778-939E-514403F5AC49}" dt="2026-09-01T04:53:29.056" v="856" actId="20577"/>
          <ac:graphicFrameMkLst>
            <pc:docMk/>
            <pc:sldMk cId="0" sldId="267"/>
            <ac:graphicFrameMk id="8" creationId="{00000000-0000-0000-0000-000000000000}"/>
          </ac:graphicFrameMkLst>
        </pc:graphicFrameChg>
      </pc:sldChg>
      <pc:sldChg chg="delSp modSp add mod ord">
        <pc:chgData name="승화 이" userId="3554c7f94d2af7a1" providerId="LiveId" clId="{6CBC0CEB-7B06-4778-939E-514403F5AC49}" dt="2026-09-01T04:51:42.739" v="850" actId="20577"/>
        <pc:sldMkLst>
          <pc:docMk/>
          <pc:sldMk cId="1937918995" sldId="499"/>
        </pc:sldMkLst>
        <pc:spChg chg="mod">
          <ac:chgData name="승화 이" userId="3554c7f94d2af7a1" providerId="LiveId" clId="{6CBC0CEB-7B06-4778-939E-514403F5AC49}" dt="2026-08-31T05:56:34.420" v="723" actId="20577"/>
          <ac:spMkLst>
            <pc:docMk/>
            <pc:sldMk cId="1937918995" sldId="499"/>
            <ac:spMk id="3" creationId="{A3D2BBCE-D34B-6404-0AD0-F511B24C0CBE}"/>
          </ac:spMkLst>
        </pc:spChg>
        <pc:spChg chg="mod">
          <ac:chgData name="승화 이" userId="3554c7f94d2af7a1" providerId="LiveId" clId="{6CBC0CEB-7B06-4778-939E-514403F5AC49}" dt="2026-09-01T04:51:42.739" v="850" actId="20577"/>
          <ac:spMkLst>
            <pc:docMk/>
            <pc:sldMk cId="1937918995" sldId="499"/>
            <ac:spMk id="7" creationId="{A86BDE75-41FA-D893-367E-F51986D6B926}"/>
          </ac:spMkLst>
        </pc:spChg>
        <pc:graphicFrameChg chg="mod modGraphic">
          <ac:chgData name="승화 이" userId="3554c7f94d2af7a1" providerId="LiveId" clId="{6CBC0CEB-7B06-4778-939E-514403F5AC49}" dt="2026-08-31T05:54:58.997" v="696"/>
          <ac:graphicFrameMkLst>
            <pc:docMk/>
            <pc:sldMk cId="1937918995" sldId="499"/>
            <ac:graphicFrameMk id="10" creationId="{22E6AB92-60EC-1DDA-9081-14B365268A32}"/>
          </ac:graphicFrameMkLst>
        </pc:graphicFrameChg>
      </pc:sldChg>
      <pc:sldChg chg="modSp mod">
        <pc:chgData name="승화 이" userId="3554c7f94d2af7a1" providerId="LiveId" clId="{6CBC0CEB-7B06-4778-939E-514403F5AC49}" dt="2026-09-01T04:54:18.624" v="862" actId="20577"/>
        <pc:sldMkLst>
          <pc:docMk/>
          <pc:sldMk cId="645880822" sldId="500"/>
        </pc:sldMkLst>
        <pc:spChg chg="mod">
          <ac:chgData name="승화 이" userId="3554c7f94d2af7a1" providerId="LiveId" clId="{6CBC0CEB-7B06-4778-939E-514403F5AC49}" dt="2026-09-01T04:54:18.624" v="862" actId="20577"/>
          <ac:spMkLst>
            <pc:docMk/>
            <pc:sldMk cId="645880822" sldId="500"/>
            <ac:spMk id="3" creationId="{E9BE6B81-38DB-D131-188E-7BECE3475305}"/>
          </ac:spMkLst>
        </pc:spChg>
        <pc:spChg chg="mod">
          <ac:chgData name="승화 이" userId="3554c7f94d2af7a1" providerId="LiveId" clId="{6CBC0CEB-7B06-4778-939E-514403F5AC49}" dt="2026-09-01T04:51:53.779" v="854" actId="20577"/>
          <ac:spMkLst>
            <pc:docMk/>
            <pc:sldMk cId="645880822" sldId="500"/>
            <ac:spMk id="10" creationId="{9C87C0EF-CAEA-5251-865E-0DDBECB51EFC}"/>
          </ac:spMkLst>
        </pc:spChg>
        <pc:graphicFrameChg chg="modGraphic">
          <ac:chgData name="승화 이" userId="3554c7f94d2af7a1" providerId="LiveId" clId="{6CBC0CEB-7B06-4778-939E-514403F5AC49}" dt="2026-09-01T04:53:32.847" v="858" actId="20577"/>
          <ac:graphicFrameMkLst>
            <pc:docMk/>
            <pc:sldMk cId="645880822" sldId="500"/>
            <ac:graphicFrameMk id="8" creationId="{40593A62-569B-A3A6-C7E2-01612D98378C}"/>
          </ac:graphicFrameMkLst>
        </pc:graphicFrameChg>
      </pc:sldChg>
      <pc:sldChg chg="modSp mod">
        <pc:chgData name="승화 이" userId="3554c7f94d2af7a1" providerId="LiveId" clId="{6CBC0CEB-7B06-4778-939E-514403F5AC49}" dt="2026-09-04T06:31:10.457" v="1686" actId="20577"/>
        <pc:sldMkLst>
          <pc:docMk/>
          <pc:sldMk cId="104129645" sldId="505"/>
        </pc:sldMkLst>
        <pc:spChg chg="mod">
          <ac:chgData name="승화 이" userId="3554c7f94d2af7a1" providerId="LiveId" clId="{6CBC0CEB-7B06-4778-939E-514403F5AC49}" dt="2026-09-04T06:31:10.457" v="1686" actId="20577"/>
          <ac:spMkLst>
            <pc:docMk/>
            <pc:sldMk cId="104129645" sldId="505"/>
            <ac:spMk id="3" creationId="{BA02770B-09C6-0E8C-25FD-8DDE59CE29CC}"/>
          </ac:spMkLst>
        </pc:spChg>
        <pc:graphicFrameChg chg="mod modGraphic">
          <ac:chgData name="승화 이" userId="3554c7f94d2af7a1" providerId="LiveId" clId="{6CBC0CEB-7B06-4778-939E-514403F5AC49}" dt="2026-09-04T06:29:52.633" v="1658" actId="20577"/>
          <ac:graphicFrameMkLst>
            <pc:docMk/>
            <pc:sldMk cId="104129645" sldId="505"/>
            <ac:graphicFrameMk id="5" creationId="{53709CF9-D270-CC9A-0F49-02A8B031CDB0}"/>
          </ac:graphicFrameMkLst>
        </pc:graphicFrameChg>
      </pc:sldChg>
      <pc:sldChg chg="modSp add mod">
        <pc:chgData name="승화 이" userId="3554c7f94d2af7a1" providerId="LiveId" clId="{6CBC0CEB-7B06-4778-939E-514403F5AC49}" dt="2026-09-04T06:31:06.148" v="1684" actId="20577"/>
        <pc:sldMkLst>
          <pc:docMk/>
          <pc:sldMk cId="1504192602" sldId="506"/>
        </pc:sldMkLst>
        <pc:spChg chg="mod">
          <ac:chgData name="승화 이" userId="3554c7f94d2af7a1" providerId="LiveId" clId="{6CBC0CEB-7B06-4778-939E-514403F5AC49}" dt="2026-09-04T06:31:06.148" v="1684" actId="20577"/>
          <ac:spMkLst>
            <pc:docMk/>
            <pc:sldMk cId="1504192602" sldId="506"/>
            <ac:spMk id="3" creationId="{C1DAD274-24FF-F592-45AA-A8766C5475ED}"/>
          </ac:spMkLst>
        </pc:spChg>
        <pc:graphicFrameChg chg="mod modGraphic">
          <ac:chgData name="승화 이" userId="3554c7f94d2af7a1" providerId="LiveId" clId="{6CBC0CEB-7B06-4778-939E-514403F5AC49}" dt="2026-09-04T06:31:00.981" v="1680" actId="20577"/>
          <ac:graphicFrameMkLst>
            <pc:docMk/>
            <pc:sldMk cId="1504192602" sldId="506"/>
            <ac:graphicFrameMk id="5" creationId="{4760ADCA-297E-BE41-CDC1-4A70EC0520D5}"/>
          </ac:graphicFrameMkLst>
        </pc:graphicFrameChg>
      </pc:sldChg>
    </pc:docChg>
  </pc:docChgLst>
</pc:chgInfo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2026-09-04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417756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6400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CEEEBA-198C-40EF-6757-929D69F8AB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BC179B4-53E0-2D44-5C57-B0EEC02AD4A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E46CDD52-AD1B-3CF0-BF21-AB0534A4357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D19B6B79-0139-B18C-417A-0E23873C01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ko-KR" altLang="en-US" smtClean="0"/>
              <a:pPr lvl="0">
                <a:defRPr/>
              </a:pPr>
              <a:t>12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0531074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742949" y="2130425"/>
            <a:ext cx="8420098" cy="14700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485899" y="3886200"/>
            <a:ext cx="6934199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/>
              <a:t>마스터 부제목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40A130E-E3B8-4EBE-931F-81B26B8448AA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0C6A38-4290-41DD-B95C-4155372FD4A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953836A-82A3-4C8B-9D31-CD724F3673ED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2EBAF6-36D0-4DD8-B695-D4C1B37E35D6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3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505" y="4406900"/>
            <a:ext cx="8420098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505" y="2906713"/>
            <a:ext cx="8420098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728D28-603B-4EFC-80F8-17E5E9107035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내용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95299" y="1600200"/>
            <a:ext cx="437514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35549" y="1600200"/>
            <a:ext cx="4375149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27A1F4E-0809-4239-8034-C38E431DAF92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0DA496-7307-4E8B-88DE-CB97B48BAB6F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sz="quarter" idx="13"/>
          </p:nvPr>
        </p:nvSpPr>
        <p:spPr>
          <a:xfrm>
            <a:off x="494030" y="1643063"/>
            <a:ext cx="8915398" cy="4525200"/>
          </a:xfrm>
        </p:spPr>
        <p:txBody>
          <a:bodyPr/>
          <a:lstStyle>
            <a:lvl1pPr>
              <a:buFontTx/>
              <a:buNone/>
              <a:defRPr/>
            </a:lvl1pPr>
          </a:lstStyle>
          <a:p>
            <a:r>
              <a:rPr lang="ko-KR" altLang="en-US"/>
              <a:t>표를 추가하려면 아이콘을 클릭하십시오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721E90-850C-410B-8B89-8394F580CFDA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내용 4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"/>
          </p:nvPr>
        </p:nvSpPr>
        <p:spPr>
          <a:xfrm>
            <a:off x="495299" y="160020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quarter" idx="2"/>
          </p:nvPr>
        </p:nvSpPr>
        <p:spPr>
          <a:xfrm>
            <a:off x="5035549" y="160020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내용 개체 틀 4"/>
          <p:cNvSpPr>
            <a:spLocks noGrp="1"/>
          </p:cNvSpPr>
          <p:nvPr>
            <p:ph sz="quarter" idx="3"/>
          </p:nvPr>
        </p:nvSpPr>
        <p:spPr>
          <a:xfrm>
            <a:off x="494030" y="398422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4279" y="3984220"/>
            <a:ext cx="4375149" cy="219600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8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그림 및 설명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644" y="4800600"/>
            <a:ext cx="5943599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644" y="612775"/>
            <a:ext cx="5943599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644" y="5367338"/>
            <a:ext cx="5943599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ACE7E28-9336-4363-8674-B91477D8F243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6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간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0" y="2130425"/>
            <a:ext cx="9906000" cy="1470025"/>
          </a:xfrm>
        </p:spPr>
        <p:txBody>
          <a:bodyPr>
            <a:normAutofit/>
          </a:bodyPr>
          <a:lstStyle>
            <a:lvl1pPr>
              <a:defRPr sz="4400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348888-F454-4AD2-BA62-3AF29D9807C0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clipArtAndTx" preserve="1">
  <p:cSld name="목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299" y="274638"/>
            <a:ext cx="8915398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8" name="텍스트 개체 틀 7"/>
          <p:cNvSpPr>
            <a:spLocks noGrp="1"/>
          </p:cNvSpPr>
          <p:nvPr>
            <p:ph type="body" sz="quarter" idx="14"/>
          </p:nvPr>
        </p:nvSpPr>
        <p:spPr>
          <a:xfrm>
            <a:off x="2321700" y="2214563"/>
            <a:ext cx="5262580" cy="3214687"/>
          </a:xfrm>
        </p:spPr>
        <p:txBody>
          <a:bodyPr>
            <a:normAutofit/>
          </a:bodyPr>
          <a:lstStyle>
            <a:lvl1pPr>
              <a:lnSpc>
                <a:spcPct val="150000"/>
              </a:lnSpc>
              <a:defRPr sz="2400"/>
            </a:lvl1pPr>
          </a:lstStyle>
          <a:p>
            <a:pPr lvl="0"/>
            <a:r>
              <a:rPr lang="ko-KR" altLang="en-US"/>
              <a:t>첫째 목차</a:t>
            </a:r>
          </a:p>
          <a:p>
            <a:pPr lvl="0"/>
            <a:r>
              <a:rPr lang="ko-KR" altLang="en-US"/>
              <a:t>둘째 목차</a:t>
            </a:r>
          </a:p>
          <a:p>
            <a:pPr lvl="0"/>
            <a:r>
              <a:rPr lang="ko-KR" altLang="en-US"/>
              <a:t>셋째 목차</a:t>
            </a:r>
          </a:p>
          <a:p>
            <a:pPr lvl="0"/>
            <a:r>
              <a:rPr lang="ko-KR" altLang="en-US"/>
              <a:t>넷째 목차</a:t>
            </a:r>
          </a:p>
          <a:p>
            <a:pPr lvl="0"/>
            <a:r>
              <a:rPr lang="ko-KR" altLang="en-US"/>
              <a:t>다섯째 목차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6FEC12-A4C9-4837-AF94-AD867782C04C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181849" y="274638"/>
            <a:ext cx="2228849" cy="585152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95299" y="274638"/>
            <a:ext cx="6521449" cy="585152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F84A3-4F29-4053-ACFD-1BAF2D3F140C}" type="datetime1">
              <a:rPr lang="ko-KR" altLang="en-US" smtClean="0"/>
              <a:pPr/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D22CD3B-FDDF-4998-970C-76E6E0BEC65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본문" preserve="1" userDrawn="1">
  <p:cSld name="1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/>
          <p:cNvPicPr>
            <a:picLocks noChangeAspect="1"/>
          </p:cNvPicPr>
          <p:nvPr userDrawn="1"/>
        </p:nvPicPr>
        <p:blipFill rotWithShape="1">
          <a:blip r:embed="rId2"/>
          <a:stretch>
            <a:fillRect/>
          </a:stretch>
        </p:blipFill>
        <p:spPr>
          <a:xfrm>
            <a:off x="8419381" y="6518712"/>
            <a:ext cx="926231" cy="134888"/>
          </a:xfrm>
          <a:prstGeom prst="rect">
            <a:avLst/>
          </a:prstGeom>
        </p:spPr>
      </p:pic>
      <p:grpSp>
        <p:nvGrpSpPr>
          <p:cNvPr id="28" name="그룹 27"/>
          <p:cNvGrpSpPr/>
          <p:nvPr userDrawn="1"/>
        </p:nvGrpSpPr>
        <p:grpSpPr>
          <a:xfrm>
            <a:off x="560385" y="0"/>
            <a:ext cx="416937" cy="1293831"/>
            <a:chOff x="560386" y="0"/>
            <a:chExt cx="416937" cy="1293831"/>
          </a:xfrm>
        </p:grpSpPr>
        <p:sp>
          <p:nvSpPr>
            <p:cNvPr id="29" name="사각형: 둥근 모서리 28"/>
            <p:cNvSpPr/>
            <p:nvPr/>
          </p:nvSpPr>
          <p:spPr>
            <a:xfrm rot="10800000" flipV="1">
              <a:off x="560386" y="357189"/>
              <a:ext cx="416937" cy="936642"/>
            </a:xfrm>
            <a:prstGeom prst="roundRect">
              <a:avLst>
                <a:gd name="adj" fmla="val 8671"/>
              </a:avLst>
            </a:prstGeom>
            <a:solidFill>
              <a:srgbClr val="007A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b"/>
            <a:lstStyle/>
            <a:p>
              <a:pPr algn="ctr">
                <a:defRPr/>
              </a:pPr>
              <a:endParaRPr lang="ko-KR" altLang="en-US">
                <a:ln w="9525"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/>
                <a:ea typeface="맑은 고딕"/>
                <a:cs typeface="+mn-cs"/>
              </a:endParaRPr>
            </a:p>
          </p:txBody>
        </p:sp>
        <p:sp>
          <p:nvSpPr>
            <p:cNvPr id="30" name="직사각형 29"/>
            <p:cNvSpPr/>
            <p:nvPr/>
          </p:nvSpPr>
          <p:spPr>
            <a:xfrm rot="10800000" flipV="1">
              <a:off x="560386" y="0"/>
              <a:ext cx="416937" cy="1235870"/>
            </a:xfrm>
            <a:prstGeom prst="rect">
              <a:avLst/>
            </a:prstGeom>
            <a:solidFill>
              <a:srgbClr val="007A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anchor="b"/>
            <a:lstStyle/>
            <a:p>
              <a:pPr algn="ctr">
                <a:defRPr/>
              </a:pPr>
              <a:endParaRPr lang="ko-KR" altLang="en-US">
                <a:ln w="9525"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/>
                <a:ea typeface="맑은 고딕"/>
                <a:cs typeface="+mn-cs"/>
              </a:endParaRPr>
            </a:p>
          </p:txBody>
        </p:sp>
      </p:grpSp>
      <p:sp>
        <p:nvSpPr>
          <p:cNvPr id="31" name="제목 1"/>
          <p:cNvSpPr txBox="1"/>
          <p:nvPr userDrawn="1"/>
        </p:nvSpPr>
        <p:spPr>
          <a:xfrm>
            <a:off x="1243308" y="657291"/>
            <a:ext cx="6274854" cy="152334"/>
          </a:xfrm>
          <a:prstGeom prst="rect">
            <a:avLst/>
          </a:prstGeom>
          <a:noFill/>
          <a:ln w="19050" algn="ctr">
            <a:noFill/>
            <a:round/>
          </a:ln>
          <a:effectLst/>
        </p:spPr>
        <p:txBody>
          <a:bodyPr vert="horz" wrap="square" lIns="0" tIns="0" rIns="0" bIns="0" anchor="t">
            <a:spAutoFit/>
          </a:bodyPr>
          <a:lstStyle>
            <a:lvl1pPr marL="0" indent="0" algn="l" defTabSz="914400" rtl="0" eaLnBrk="1" latinLnBrk="1" hangingPunct="1">
              <a:spcBef>
                <a:spcPct val="0"/>
              </a:spcBef>
              <a:buFont typeface="Arial"/>
              <a:buNone/>
              <a:defRPr kumimoji="1" lang="ko-KR" altLang="en-US" sz="4400" b="0" i="0" u="none" strike="noStrike" kern="0" cap="none" spc="0" normalizeH="0" baseline="0">
                <a:gradFill>
                  <a:gsLst>
                    <a:gs pos="0">
                      <a:schemeClr val="tx1">
                        <a:lumMod val="90000"/>
                        <a:lumOff val="10000"/>
                      </a:schemeClr>
                    </a:gs>
                    <a:gs pos="50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Rix고딕 EB"/>
                <a:ea typeface="Rix고딕 EB"/>
                <a:cs typeface="+mj-cs"/>
              </a:defRPr>
            </a:lvl1pPr>
          </a:lstStyle>
          <a:p>
            <a:pPr>
              <a:lnSpc>
                <a:spcPct val="110000"/>
              </a:lnSpc>
              <a:defRPr/>
            </a:pPr>
            <a:r>
              <a:rPr lang="en-US" altLang="ko-KR" sz="900" b="1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+mn-cs"/>
              </a:rPr>
              <a:t>2. </a:t>
            </a:r>
            <a:r>
              <a:rPr lang="ko-KR" altLang="en-US" sz="900" b="1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+mn-cs"/>
              </a:rPr>
              <a:t>이슈</a:t>
            </a:r>
            <a:r>
              <a:rPr lang="en-US" altLang="ko-KR" sz="900" b="1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+mn-cs"/>
              </a:rPr>
              <a:t> </a:t>
            </a:r>
            <a:r>
              <a:rPr lang="ko-KR" altLang="en-US" sz="900" b="1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+mn-cs"/>
              </a:rPr>
              <a:t>및 작업 진행 사항</a:t>
            </a:r>
            <a:endParaRPr lang="en-US" altLang="ko-KR" sz="900" b="1">
              <a:ln w="15875" cmpd="sng">
                <a:solidFill>
                  <a:schemeClr val="bg1">
                    <a:lumMod val="9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+mn-cs"/>
            </a:endParaRPr>
          </a:p>
        </p:txBody>
      </p:sp>
      <p:sp>
        <p:nvSpPr>
          <p:cNvPr id="32" name="텍스트 개체 틀 12"/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60383" y="916800"/>
            <a:ext cx="416938" cy="36036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 defTabSz="4572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/>
              <a:buNone/>
              <a:defRPr lang="ko-KR" altLang="en-US" sz="1800" kern="1200" dirty="0">
                <a:ln w="9525"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lt1"/>
                </a:solidFill>
                <a:latin typeface="맑은 고딕"/>
                <a:ea typeface="맑은 고딕"/>
                <a:cs typeface="+mn-cs"/>
              </a:defRPr>
            </a:lvl1pPr>
            <a:lvl2pPr marL="456868" indent="0">
              <a:buNone/>
              <a:defRPr/>
            </a:lvl2pPr>
            <a:lvl3pPr marL="913735" indent="0">
              <a:buNone/>
              <a:defRPr/>
            </a:lvl3pPr>
            <a:lvl4pPr marL="1370602" indent="0">
              <a:buNone/>
              <a:defRPr/>
            </a:lvl4pPr>
            <a:lvl5pPr marL="1827470" indent="0">
              <a:buNone/>
              <a:defRPr/>
            </a:lvl5pPr>
          </a:lstStyle>
          <a:p>
            <a:pPr marL="0" marR="0" lvl="0" indent="0" algn="ctr" defTabSz="913735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None/>
              <a:defRPr/>
            </a:pPr>
            <a:r>
              <a:rPr lang="en-US" altLang="ko-KR"/>
              <a:t>00</a:t>
            </a:r>
            <a:endParaRPr lang="ko-KR" altLang="en-US"/>
          </a:p>
        </p:txBody>
      </p:sp>
      <p:sp>
        <p:nvSpPr>
          <p:cNvPr id="33" name="텍스트 개체 틀 8"/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243307" y="919024"/>
            <a:ext cx="8102305" cy="360363"/>
          </a:xfrm>
          <a:prstGeom prst="rect">
            <a:avLst/>
          </a:prstGeom>
        </p:spPr>
        <p:txBody>
          <a:bodyPr lIns="0" tIns="36000" rIns="0" bIns="0" anchor="ctr">
            <a:normAutofit/>
          </a:bodyPr>
          <a:lstStyle>
            <a:lvl1pPr marL="0" indent="0">
              <a:spcBef>
                <a:spcPts val="0"/>
              </a:spcBef>
              <a:buNone/>
              <a:defRPr kumimoji="1" lang="ko-KR" altLang="en-US" sz="2700" b="0" i="0" u="none" strike="noStrike" kern="0" cap="none" spc="-150" normalizeH="0" baseline="0" dirty="0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/>
                <a:ea typeface="맑은 고딕"/>
                <a:cs typeface="+mj-cs"/>
              </a:defRPr>
            </a:lvl1pPr>
          </a:lstStyle>
          <a:p>
            <a:pPr marL="0" marR="0" lvl="0" indent="0" algn="l" defTabSz="913735" rtl="0" eaLnBrk="1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Font typeface="Arial"/>
              <a:buNone/>
              <a:defRPr/>
            </a:pPr>
            <a:r>
              <a:rPr lang="ko-KR" altLang="en-US"/>
              <a:t>제목을 입력하세요</a:t>
            </a:r>
          </a:p>
        </p:txBody>
      </p:sp>
      <p:sp>
        <p:nvSpPr>
          <p:cNvPr id="38" name="Rectangle 178"/>
          <p:cNvSpPr>
            <a:spLocks noChangeArrowheads="1"/>
          </p:cNvSpPr>
          <p:nvPr userDrawn="1"/>
        </p:nvSpPr>
        <p:spPr>
          <a:xfrm>
            <a:off x="4726780" y="6524601"/>
            <a:ext cx="452440" cy="123111"/>
          </a:xfrm>
          <a:prstGeom prst="rect">
            <a:avLst/>
          </a:prstGeom>
          <a:noFill/>
          <a:ln w="9525">
            <a:noFill/>
            <a:miter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86912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fld id="{8412F0CD-6C03-4E80-9F06-157C4F806DB1}" type="slidenum">
              <a:rPr kumimoji="1" lang="en-US" altLang="ko-KR" sz="800" b="0" i="0" u="none" strike="noStrike" kern="0" cap="none" spc="0" normalizeH="0" baseline="0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Rix고딕 L"/>
                <a:ea typeface="Rix고딕 L"/>
                <a:cs typeface="+mn-cs"/>
              </a:rPr>
              <a:pPr marL="0" marR="0" lvl="0" indent="0" algn="ctr" defTabSz="986912" rtl="0" eaLnBrk="1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FontTx/>
                <a:buNone/>
                <a:defRPr/>
              </a:pPr>
              <a:t>‹#›</a:t>
            </a:fld>
            <a:endParaRPr kumimoji="1" lang="en-US" altLang="ko-KR" sz="800" b="0" i="0" u="none" strike="noStrike" kern="0" cap="none" spc="0" normalizeH="0" baseline="0">
              <a:ln w="15875" cmpd="sng">
                <a:solidFill>
                  <a:schemeClr val="bg1">
                    <a:lumMod val="95000"/>
                    <a:alpha val="0"/>
                  </a:schemeClr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Rix고딕 L"/>
              <a:ea typeface="Rix고딕 L"/>
              <a:cs typeface="+mn-cs"/>
            </a:endParaRPr>
          </a:p>
        </p:txBody>
      </p:sp>
      <p:pic>
        <p:nvPicPr>
          <p:cNvPr id="2" name="Picture 16" descr="A close up of a screen  Description automatically generated"/>
          <p:cNvPicPr>
            <a:picLocks noChangeAspect="1"/>
          </p:cNvPicPr>
          <p:nvPr userDrawn="1"/>
        </p:nvPicPr>
        <p:blipFill rotWithShape="1">
          <a:blip r:embed="rId3"/>
          <a:stretch>
            <a:fillRect/>
          </a:stretch>
        </p:blipFill>
        <p:spPr>
          <a:xfrm>
            <a:off x="8169328" y="666169"/>
            <a:ext cx="1176285" cy="219417"/>
          </a:xfrm>
          <a:prstGeom prst="rect">
            <a:avLst/>
          </a:prstGeom>
        </p:spPr>
      </p:pic>
      <p:sp>
        <p:nvSpPr>
          <p:cNvPr id="3" name="제목 1"/>
          <p:cNvSpPr txBox="1"/>
          <p:nvPr userDrawn="1"/>
        </p:nvSpPr>
        <p:spPr>
          <a:xfrm>
            <a:off x="560382" y="6520854"/>
            <a:ext cx="4221956" cy="165696"/>
          </a:xfrm>
          <a:prstGeom prst="rect">
            <a:avLst/>
          </a:prstGeom>
          <a:noFill/>
          <a:ln w="19050" algn="ctr">
            <a:noFill/>
            <a:round/>
          </a:ln>
          <a:effectLst/>
        </p:spPr>
        <p:txBody>
          <a:bodyPr vert="horz" wrap="square" lIns="0" tIns="0" rIns="0" bIns="0" anchor="t">
            <a:spAutoFit/>
          </a:bodyPr>
          <a:lstStyle>
            <a:lvl1pPr marL="0" indent="0" algn="l" defTabSz="914400" rtl="0" eaLnBrk="1" latinLnBrk="1" hangingPunct="1">
              <a:spcBef>
                <a:spcPct val="0"/>
              </a:spcBef>
              <a:buFont typeface="Arial"/>
              <a:buNone/>
              <a:defRPr kumimoji="1" lang="ko-KR" altLang="en-US" sz="4400" b="0" i="0" u="none" strike="noStrike" kern="0" cap="none" spc="0" normalizeH="0" baseline="0">
                <a:gradFill>
                  <a:gsLst>
                    <a:gs pos="0">
                      <a:schemeClr val="tx1">
                        <a:lumMod val="90000"/>
                        <a:lumOff val="10000"/>
                      </a:schemeClr>
                    </a:gs>
                    <a:gs pos="50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Rix고딕 EB"/>
                <a:ea typeface="Rix고딕 EB"/>
                <a:cs typeface="+mj-cs"/>
              </a:defRPr>
            </a:lvl1pPr>
          </a:lstStyle>
          <a:p>
            <a:pPr marL="0" indent="0" algn="l" defTabSz="914400" rtl="0" eaLnBrk="1" latinLnBrk="1" hangingPunct="1">
              <a:lnSpc>
                <a:spcPct val="110000"/>
              </a:lnSpc>
              <a:spcBef>
                <a:spcPct val="0"/>
              </a:spcBef>
              <a:buFont typeface="Arial"/>
              <a:buNone/>
              <a:defRPr/>
            </a:pPr>
            <a:r>
              <a:rPr kumimoji="1" lang="en-US" altLang="ko-KR" sz="1050" b="0" i="0" u="none" strike="noStrike" kern="0" cap="none" spc="-50" normalizeH="0" baseline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Rix고딕 L"/>
                <a:ea typeface="Rix고딕 L"/>
                <a:cs typeface="+mn-cs"/>
              </a:rPr>
              <a:t>2026</a:t>
            </a:r>
            <a:r>
              <a:rPr kumimoji="1" lang="ko-KR" altLang="en-US" sz="1050" b="0" i="0" u="none" strike="noStrike" kern="0" cap="none" spc="-50" normalizeH="0" baseline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Rix고딕 L"/>
                <a:ea typeface="Rix고딕 L"/>
                <a:cs typeface="+mn-cs"/>
              </a:rPr>
              <a:t>년 </a:t>
            </a:r>
            <a:r>
              <a:rPr kumimoji="1" lang="en-US" altLang="ko-KR" sz="1050" b="0" i="0" u="none" strike="noStrike" kern="0" cap="none" spc="-50" normalizeH="0" baseline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Rix고딕 L"/>
                <a:ea typeface="Rix고딕 L"/>
                <a:cs typeface="+mn-cs"/>
              </a:rPr>
              <a:t>05</a:t>
            </a:r>
            <a:r>
              <a:rPr kumimoji="1" lang="ko-KR" altLang="en-US" sz="1050" b="0" i="0" u="none" strike="noStrike" kern="0" cap="none" spc="-50" normalizeH="0" baseline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Rix고딕 L"/>
                <a:ea typeface="Rix고딕 L"/>
                <a:cs typeface="+mn-cs"/>
              </a:rPr>
              <a:t>월 </a:t>
            </a:r>
            <a:r>
              <a:rPr kumimoji="1" lang="en-US" altLang="ko-KR" sz="1050" b="0" i="0" u="none" strike="noStrike" kern="0" cap="none" spc="-50" normalizeH="0" baseline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Rix고딕 L"/>
                <a:ea typeface="Rix고딕 L"/>
                <a:cs typeface="+mn-cs"/>
              </a:rPr>
              <a:t>NH </a:t>
            </a:r>
            <a:r>
              <a:rPr kumimoji="1" lang="ko-KR" altLang="en-US" sz="1050" b="0" i="0" u="none" strike="noStrike" kern="0" cap="none" spc="-50" normalizeH="0" baseline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Rix고딕 L"/>
                <a:ea typeface="Rix고딕 L"/>
                <a:cs typeface="+mn-cs"/>
              </a:rPr>
              <a:t>프라이빗 클라우드 정기 보고서</a:t>
            </a:r>
            <a:endParaRPr kumimoji="1" lang="ko-KR" altLang="en-US" sz="1050" b="0" i="0" u="none" strike="noStrike" kern="0" cap="none" spc="-50" normalizeH="0" baseline="0">
              <a:solidFill>
                <a:schemeClr val="tx1"/>
              </a:solidFill>
              <a:latin typeface="Rix고딕 L"/>
              <a:ea typeface="Rix고딕 L"/>
              <a:cs typeface="+mn-c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본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그림 25">
            <a:extLst>
              <a:ext uri="{FF2B5EF4-FFF2-40B4-BE49-F238E27FC236}">
                <a16:creationId xmlns:a16="http://schemas.microsoft.com/office/drawing/2014/main" id="{C516E4B9-83A3-9781-062B-CA85C9D320E0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19381" y="6518712"/>
            <a:ext cx="926232" cy="134888"/>
          </a:xfrm>
          <a:prstGeom prst="rect">
            <a:avLst/>
          </a:prstGeom>
        </p:spPr>
      </p:pic>
      <p:grpSp>
        <p:nvGrpSpPr>
          <p:cNvPr id="28" name="그룹 27">
            <a:extLst>
              <a:ext uri="{FF2B5EF4-FFF2-40B4-BE49-F238E27FC236}">
                <a16:creationId xmlns:a16="http://schemas.microsoft.com/office/drawing/2014/main" id="{BFF96645-2BF2-74A8-4117-FCAF56560B89}"/>
              </a:ext>
            </a:extLst>
          </p:cNvPr>
          <p:cNvGrpSpPr/>
          <p:nvPr userDrawn="1"/>
        </p:nvGrpSpPr>
        <p:grpSpPr>
          <a:xfrm>
            <a:off x="560387" y="1"/>
            <a:ext cx="416937" cy="1293831"/>
            <a:chOff x="560386" y="0"/>
            <a:chExt cx="416937" cy="1293831"/>
          </a:xfrm>
        </p:grpSpPr>
        <p:sp>
          <p:nvSpPr>
            <p:cNvPr id="29" name="사각형: 둥근 모서리 28">
              <a:extLst>
                <a:ext uri="{FF2B5EF4-FFF2-40B4-BE49-F238E27FC236}">
                  <a16:creationId xmlns:a16="http://schemas.microsoft.com/office/drawing/2014/main" id="{77962A76-4C0C-7F0B-7929-C2AE8D64F824}"/>
                </a:ext>
              </a:extLst>
            </p:cNvPr>
            <p:cNvSpPr/>
            <p:nvPr/>
          </p:nvSpPr>
          <p:spPr>
            <a:xfrm rot="10800000" flipV="1">
              <a:off x="560386" y="357189"/>
              <a:ext cx="416937" cy="936642"/>
            </a:xfrm>
            <a:prstGeom prst="roundRect">
              <a:avLst>
                <a:gd name="adj" fmla="val 8671"/>
              </a:avLst>
            </a:prstGeom>
            <a:solidFill>
              <a:srgbClr val="007A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/>
            <a:p>
              <a:pPr algn="ctr"/>
              <a:endParaRPr lang="ko-KR" altLang="en-US" sz="18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30" name="직사각형 29">
              <a:extLst>
                <a:ext uri="{FF2B5EF4-FFF2-40B4-BE49-F238E27FC236}">
                  <a16:creationId xmlns:a16="http://schemas.microsoft.com/office/drawing/2014/main" id="{1C82191C-2CDC-A36C-78C5-30E89975FCC4}"/>
                </a:ext>
              </a:extLst>
            </p:cNvPr>
            <p:cNvSpPr/>
            <p:nvPr/>
          </p:nvSpPr>
          <p:spPr>
            <a:xfrm rot="10800000" flipV="1">
              <a:off x="560386" y="0"/>
              <a:ext cx="416937" cy="1235870"/>
            </a:xfrm>
            <a:prstGeom prst="rect">
              <a:avLst/>
            </a:prstGeom>
            <a:solidFill>
              <a:srgbClr val="007AF9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b"/>
            <a:lstStyle/>
            <a:p>
              <a:pPr algn="ctr"/>
              <a:endParaRPr lang="ko-KR" altLang="en-US" sz="18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sp>
        <p:nvSpPr>
          <p:cNvPr id="31" name="제목 1">
            <a:extLst>
              <a:ext uri="{FF2B5EF4-FFF2-40B4-BE49-F238E27FC236}">
                <a16:creationId xmlns:a16="http://schemas.microsoft.com/office/drawing/2014/main" id="{724444D4-9812-9D95-EE01-39FA33C27BC9}"/>
              </a:ext>
            </a:extLst>
          </p:cNvPr>
          <p:cNvSpPr txBox="1">
            <a:spLocks/>
          </p:cNvSpPr>
          <p:nvPr userDrawn="1"/>
        </p:nvSpPr>
        <p:spPr>
          <a:xfrm>
            <a:off x="1243309" y="657292"/>
            <a:ext cx="6274853" cy="13939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vert="horz" wrap="square" lIns="0" tIns="0" rIns="0" bIns="0" rtlCol="0" anchor="t">
            <a:spAutoFit/>
            <a:scene3d>
              <a:camera prst="orthographicFront"/>
              <a:lightRig rig="threePt" dir="t"/>
            </a:scene3d>
            <a:sp3d prstMaterial="softEdge">
              <a:bevelT w="0" h="0"/>
              <a:contourClr>
                <a:schemeClr val="bg1"/>
              </a:contourClr>
            </a:sp3d>
          </a:bodyPr>
          <a:lstStyle>
            <a:lvl1pPr marL="0" indent="0" algn="l" defTabSz="914400" rtl="0" eaLnBrk="1" latinLnBrk="1" hangingPunct="1">
              <a:spcBef>
                <a:spcPct val="0"/>
              </a:spcBef>
              <a:buFont typeface="Arial" pitchFamily="34" charset="0"/>
              <a:buNone/>
              <a:defRPr kumimoji="1" lang="ko-KR" altLang="en-US" sz="4400" b="0" i="0" u="none" strike="noStrike" kern="0" cap="none" spc="0" normalizeH="0" baseline="0">
                <a:ln w="15875" cmpd="sng">
                  <a:noFill/>
                  <a:prstDash val="solid"/>
                </a:ln>
                <a:gradFill>
                  <a:gsLst>
                    <a:gs pos="0">
                      <a:schemeClr val="tx1">
                        <a:lumMod val="90000"/>
                        <a:lumOff val="10000"/>
                      </a:schemeClr>
                    </a:gs>
                    <a:gs pos="50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pPr>
              <a:lnSpc>
                <a:spcPct val="110000"/>
              </a:lnSpc>
            </a:pPr>
            <a:r>
              <a:rPr lang="en-US" altLang="ko-KR" sz="900" b="1" dirty="0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2. </a:t>
            </a:r>
            <a:r>
              <a:rPr lang="ko-KR" altLang="en-US" sz="900" b="1" dirty="0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이슈</a:t>
            </a:r>
            <a:r>
              <a:rPr lang="en-US" altLang="ko-KR" sz="900" b="1" dirty="0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900" b="1" dirty="0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및 작업 진행 사항</a:t>
            </a:r>
            <a:endParaRPr lang="en-US" altLang="ko-KR" sz="900" b="1" dirty="0">
              <a:ln w="15875" cmpd="sng">
                <a:solidFill>
                  <a:schemeClr val="bg1">
                    <a:lumMod val="95000"/>
                    <a:alpha val="0"/>
                  </a:schemeClr>
                </a:solidFill>
                <a:prstDash val="solid"/>
              </a:ln>
              <a:solidFill>
                <a:schemeClr val="tx1">
                  <a:lumMod val="65000"/>
                  <a:lumOff val="35000"/>
                </a:schemeClr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2" name="텍스트 개체 틀 12">
            <a:extLst>
              <a:ext uri="{FF2B5EF4-FFF2-40B4-BE49-F238E27FC236}">
                <a16:creationId xmlns:a16="http://schemas.microsoft.com/office/drawing/2014/main" id="{EE401C06-E5E0-2953-D265-3188D7DEDC92}"/>
              </a:ext>
            </a:extLst>
          </p:cNvPr>
          <p:cNvSpPr>
            <a:spLocks noGrp="1"/>
          </p:cNvSpPr>
          <p:nvPr userDrawn="1">
            <p:ph type="body" sz="quarter" idx="13" hasCustomPrompt="1"/>
          </p:nvPr>
        </p:nvSpPr>
        <p:spPr>
          <a:xfrm>
            <a:off x="560384" y="916800"/>
            <a:ext cx="416939" cy="360364"/>
          </a:xfrm>
          <a:prstGeom prst="rect">
            <a:avLst/>
          </a:prstGeom>
        </p:spPr>
        <p:txBody>
          <a:bodyPr lIns="0" tIns="0" rIns="0" bIns="0" anchor="ctr"/>
          <a:lstStyle>
            <a:lvl1pPr marL="0" indent="0" algn="ctr" defTabSz="457200" rtl="0" eaLnBrk="1" fontAlgn="auto" latinLnBrk="0" hangingPunct="1">
              <a:spcBef>
                <a:spcPct val="20000"/>
              </a:spcBef>
              <a:spcAft>
                <a:spcPts val="0"/>
              </a:spcAft>
              <a:buFont typeface="Arial" panose="020B0604020202020204" pitchFamily="34" charset="0"/>
              <a:buNone/>
              <a:defRPr lang="ko-KR" altLang="en-US" sz="1800" kern="1200" dirty="0">
                <a:ln>
                  <a:solidFill>
                    <a:schemeClr val="bg1">
                      <a:lumMod val="95000"/>
                      <a:alpha val="0"/>
                    </a:schemeClr>
                  </a:solidFill>
                </a:ln>
                <a:solidFill>
                  <a:schemeClr val="lt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6868" indent="0">
              <a:buNone/>
              <a:defRPr/>
            </a:lvl2pPr>
            <a:lvl3pPr marL="913735" indent="0">
              <a:buNone/>
              <a:defRPr/>
            </a:lvl3pPr>
            <a:lvl4pPr marL="1370602" indent="0">
              <a:buNone/>
              <a:defRPr/>
            </a:lvl4pPr>
            <a:lvl5pPr marL="1827470" indent="0">
              <a:buNone/>
              <a:defRPr/>
            </a:lvl5pPr>
          </a:lstStyle>
          <a:p>
            <a:pPr marL="0" marR="0" lvl="0" indent="0" algn="ctr" defTabSz="913735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00</a:t>
            </a:r>
            <a:endParaRPr lang="ko-KR" altLang="en-US" dirty="0"/>
          </a:p>
        </p:txBody>
      </p:sp>
      <p:sp>
        <p:nvSpPr>
          <p:cNvPr id="33" name="텍스트 개체 틀 8">
            <a:extLst>
              <a:ext uri="{FF2B5EF4-FFF2-40B4-BE49-F238E27FC236}">
                <a16:creationId xmlns:a16="http://schemas.microsoft.com/office/drawing/2014/main" id="{C9E82989-A836-0B15-4F13-7190ACCC70BD}"/>
              </a:ext>
            </a:extLst>
          </p:cNvPr>
          <p:cNvSpPr>
            <a:spLocks noGrp="1"/>
          </p:cNvSpPr>
          <p:nvPr userDrawn="1">
            <p:ph type="body" sz="quarter" idx="15" hasCustomPrompt="1"/>
          </p:nvPr>
        </p:nvSpPr>
        <p:spPr>
          <a:xfrm>
            <a:off x="1243307" y="919025"/>
            <a:ext cx="8102305" cy="360363"/>
          </a:xfrm>
          <a:prstGeom prst="rect">
            <a:avLst/>
          </a:prstGeom>
        </p:spPr>
        <p:txBody>
          <a:bodyPr lIns="0" tIns="36000" rIns="0" bIns="0" anchor="ctr">
            <a:normAutofit/>
          </a:bodyPr>
          <a:lstStyle>
            <a:lvl1pPr marL="0" indent="0">
              <a:spcBef>
                <a:spcPts val="0"/>
              </a:spcBef>
              <a:buNone/>
              <a:defRPr kumimoji="1" lang="ko-KR" altLang="en-US" sz="2700" b="0" i="0" u="none" strike="noStrike" kern="0" cap="none" spc="-150" normalizeH="0" baseline="0" dirty="0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95000"/>
                    <a:lumOff val="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defRPr>
            </a:lvl1pPr>
          </a:lstStyle>
          <a:p>
            <a:pPr marL="0" marR="0" lvl="0" indent="0" algn="l" defTabSz="913735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ko-KR" altLang="en-US" dirty="0"/>
              <a:t>제목을 입력하세요</a:t>
            </a:r>
          </a:p>
        </p:txBody>
      </p:sp>
      <p:sp>
        <p:nvSpPr>
          <p:cNvPr id="38" name="Rectangle 178">
            <a:extLst>
              <a:ext uri="{FF2B5EF4-FFF2-40B4-BE49-F238E27FC236}">
                <a16:creationId xmlns:a16="http://schemas.microsoft.com/office/drawing/2014/main" id="{50B025A9-216B-4D91-B3F2-E6A64714ADE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726780" y="6524602"/>
            <a:ext cx="452440" cy="1231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square" lIns="0" tIns="0" rIns="0" bIns="0" anchor="ctr">
            <a:spAutoFit/>
          </a:bodyPr>
          <a:lstStyle/>
          <a:p>
            <a:pPr marL="0" marR="0" lvl="0" indent="0" algn="ctr" defTabSz="98691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fld id="{8412F0CD-6C03-4E80-9F06-157C4F806DB1}" type="slidenum">
              <a:rPr kumimoji="1" lang="en-US" altLang="ko-KR" sz="800" b="0" i="0" u="none" strike="noStrike" kern="0" cap="none" spc="0" normalizeH="0" baseline="0" noProof="0" smtClean="0">
                <a:ln w="15875" cmpd="sng">
                  <a:solidFill>
                    <a:schemeClr val="bg1">
                      <a:lumMod val="95000"/>
                      <a:alpha val="0"/>
                    </a:schemeClr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pPr marL="0" marR="0" lvl="0" indent="0" algn="ctr" defTabSz="98691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</a:pPr>
              <a:t>‹#›</a:t>
            </a:fld>
            <a:endParaRPr kumimoji="1" lang="en-US" altLang="ko-KR" sz="800" b="0" i="0" u="none" strike="noStrike" kern="0" cap="none" spc="0" normalizeH="0" baseline="0" noProof="0" dirty="0">
              <a:ln w="15875" cmpd="sng">
                <a:solidFill>
                  <a:schemeClr val="bg1">
                    <a:lumMod val="95000"/>
                    <a:alpha val="0"/>
                  </a:schemeClr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맑은 고딕" panose="020B0503020000020004" pitchFamily="50" charset="-127"/>
              <a:ea typeface="맑은 고딕" panose="020B0503020000020004" pitchFamily="50" charset="-127"/>
              <a:cs typeface="+mj-cs"/>
            </a:endParaRPr>
          </a:p>
        </p:txBody>
      </p:sp>
      <p:pic>
        <p:nvPicPr>
          <p:cNvPr id="2" name="Picture 16" descr="A close up of a screen&#10;&#10;Description automatically generated">
            <a:extLst>
              <a:ext uri="{FF2B5EF4-FFF2-40B4-BE49-F238E27FC236}">
                <a16:creationId xmlns:a16="http://schemas.microsoft.com/office/drawing/2014/main" id="{7F1C1F72-4C28-6192-313A-48EC68F96B7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169328" y="666170"/>
            <a:ext cx="1176285" cy="219417"/>
          </a:xfrm>
          <a:prstGeom prst="rect">
            <a:avLst/>
          </a:prstGeom>
        </p:spPr>
      </p:pic>
      <p:sp>
        <p:nvSpPr>
          <p:cNvPr id="3" name="제목 1">
            <a:extLst>
              <a:ext uri="{FF2B5EF4-FFF2-40B4-BE49-F238E27FC236}">
                <a16:creationId xmlns:a16="http://schemas.microsoft.com/office/drawing/2014/main" id="{F3F7C996-A2E3-6BF4-914D-78F6E923A678}"/>
              </a:ext>
            </a:extLst>
          </p:cNvPr>
          <p:cNvSpPr txBox="1">
            <a:spLocks/>
          </p:cNvSpPr>
          <p:nvPr userDrawn="1"/>
        </p:nvSpPr>
        <p:spPr>
          <a:xfrm>
            <a:off x="560383" y="6520855"/>
            <a:ext cx="4221956" cy="16267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  <a:effectLst/>
        </p:spPr>
        <p:txBody>
          <a:bodyPr vert="horz" wrap="square" lIns="0" tIns="0" rIns="0" bIns="0" rtlCol="0" anchor="t">
            <a:spAutoFit/>
            <a:scene3d>
              <a:camera prst="orthographicFront"/>
              <a:lightRig rig="threePt" dir="t"/>
            </a:scene3d>
            <a:sp3d prstMaterial="softEdge">
              <a:bevelT w="0" h="0"/>
              <a:contourClr>
                <a:schemeClr val="bg1"/>
              </a:contourClr>
            </a:sp3d>
          </a:bodyPr>
          <a:lstStyle>
            <a:lvl1pPr marL="0" indent="0" algn="l" defTabSz="914400" rtl="0" eaLnBrk="1" latinLnBrk="1" hangingPunct="1">
              <a:spcBef>
                <a:spcPct val="0"/>
              </a:spcBef>
              <a:buFont typeface="Arial" pitchFamily="34" charset="0"/>
              <a:buNone/>
              <a:defRPr kumimoji="1" lang="ko-KR" altLang="en-US" sz="4400" b="0" i="0" u="none" strike="noStrike" kern="0" cap="none" spc="0" normalizeH="0" baseline="0">
                <a:ln w="15875" cmpd="sng">
                  <a:noFill/>
                  <a:prstDash val="solid"/>
                </a:ln>
                <a:gradFill>
                  <a:gsLst>
                    <a:gs pos="0">
                      <a:schemeClr val="tx1">
                        <a:lumMod val="90000"/>
                        <a:lumOff val="10000"/>
                      </a:schemeClr>
                    </a:gs>
                    <a:gs pos="50000">
                      <a:schemeClr val="tx1">
                        <a:lumMod val="90000"/>
                        <a:lumOff val="10000"/>
                      </a:schemeClr>
                    </a:gs>
                  </a:gsLst>
                  <a:lin ang="5400000" scaled="0"/>
                </a:gradFill>
                <a:effectLst/>
                <a:uLnTx/>
                <a:uFillTx/>
                <a:latin typeface="Rix고딕 EB" panose="02020603020101020101" pitchFamily="18" charset="-127"/>
                <a:ea typeface="Rix고딕 EB" panose="02020603020101020101" pitchFamily="18" charset="-127"/>
                <a:cs typeface="+mj-cs"/>
              </a:defRPr>
            </a:lvl1pPr>
          </a:lstStyle>
          <a:p>
            <a:pPr marL="0" indent="0" algn="l" defTabSz="914400" rtl="0" eaLnBrk="1" latinLnBrk="1" hangingPunct="1">
              <a:lnSpc>
                <a:spcPct val="110000"/>
              </a:lnSpc>
              <a:spcBef>
                <a:spcPct val="0"/>
              </a:spcBef>
              <a:buFont typeface="Arial" pitchFamily="34" charset="0"/>
              <a:buNone/>
            </a:pPr>
            <a:r>
              <a:rPr kumimoji="1" lang="en-US" altLang="ko-KR" sz="1050" b="0" i="0" u="none" strike="noStrike" kern="0" cap="none" spc="-50" normalizeH="0" baseline="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2026</a:t>
            </a:r>
            <a:r>
              <a:rPr kumimoji="1" lang="ko-KR" altLang="en-US" sz="1050" b="0" i="0" u="none" strike="noStrike" kern="0" cap="none" spc="-50" normalizeH="0" baseline="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년 </a:t>
            </a:r>
            <a:r>
              <a:rPr kumimoji="1" lang="en-US" altLang="ko-KR" sz="1050" b="0" i="0" u="none" strike="noStrike" kern="0" cap="none" spc="-50" normalizeH="0" baseline="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06</a:t>
            </a:r>
            <a:r>
              <a:rPr kumimoji="1" lang="ko-KR" altLang="en-US" sz="1050" b="0" i="0" u="none" strike="noStrike" kern="0" cap="none" spc="-50" normalizeH="0" baseline="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월 </a:t>
            </a:r>
            <a:r>
              <a:rPr kumimoji="1" lang="en-US" altLang="ko-KR" sz="1050" b="0" i="0" u="none" strike="noStrike" kern="0" cap="none" spc="-50" normalizeH="0" baseline="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NH </a:t>
            </a:r>
            <a:r>
              <a:rPr kumimoji="1" lang="ko-KR" altLang="en-US" sz="1050" b="0" i="0" u="none" strike="noStrike" kern="0" cap="none" spc="-50" normalizeH="0" baseline="0" dirty="0" err="1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프라이빗</a:t>
            </a:r>
            <a:r>
              <a:rPr kumimoji="1" lang="ko-KR" altLang="en-US" sz="1050" b="0" i="0" u="none" strike="noStrike" kern="0" cap="none" spc="-50" normalizeH="0" baseline="0" dirty="0">
                <a:ln w="15875" cmpd="sng">
                  <a:solidFill>
                    <a:schemeClr val="accent1">
                      <a:alpha val="0"/>
                    </a:schemeClr>
                  </a:solidFill>
                  <a:prstDash val="solid"/>
                </a:ln>
                <a:solidFill>
                  <a:schemeClr val="tx1"/>
                </a:solidFill>
                <a:effectLst/>
                <a:uLnTx/>
                <a:uFillTx/>
                <a:latin typeface="맑은 고딕" panose="020B0503020000020004" pitchFamily="50" charset="-127"/>
                <a:ea typeface="맑은 고딕" panose="020B0503020000020004" pitchFamily="50" charset="-127"/>
                <a:cs typeface="+mj-cs"/>
              </a:rPr>
              <a:t> 클라우드 정기 보고서</a:t>
            </a:r>
          </a:p>
        </p:txBody>
      </p:sp>
    </p:spTree>
    <p:extLst>
      <p:ext uri="{BB962C8B-B14F-4D97-AF65-F5344CB8AC3E}">
        <p14:creationId xmlns:p14="http://schemas.microsoft.com/office/powerpoint/2010/main" val="219257124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5" pos="3120">
          <p15:clr>
            <a:srgbClr val="FBAE40"/>
          </p15:clr>
        </p15:guide>
        <p15:guide id="6" pos="353">
          <p15:clr>
            <a:srgbClr val="FBAE40"/>
          </p15:clr>
        </p15:guide>
        <p15:guide id="7" pos="5887">
          <p15:clr>
            <a:srgbClr val="FBAE40"/>
          </p15:clr>
        </p15:guide>
        <p15:guide id="8" orient="horz" pos="1117">
          <p15:clr>
            <a:srgbClr val="FBAE40"/>
          </p15:clr>
        </p15:guide>
        <p15:guide id="9" orient="horz" pos="1525">
          <p15:clr>
            <a:srgbClr val="FBAE40"/>
          </p15:clr>
        </p15:guide>
        <p15:guide id="10" orient="horz" pos="3929">
          <p15:clr>
            <a:srgbClr val="FBAE40"/>
          </p15:clr>
        </p15:guide>
      </p15:sldGuideLst>
    </p:ext>
  </p:extLs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한컴오피스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495299" y="274638"/>
            <a:ext cx="8915398" cy="1143000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pPr lvl="0">
              <a:defRPr/>
            </a:pPr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299" y="1600200"/>
            <a:ext cx="8915398" cy="4525963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299" y="6356350"/>
            <a:ext cx="23113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D422D86A-5F52-4165-8473-F1B836277586}" type="datetime1">
              <a:rPr lang="ko-KR" altLang="en-US"/>
              <a:pPr lvl="0">
                <a:defRPr/>
              </a:pPr>
              <a:t>2026-09-04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49" y="6356350"/>
            <a:ext cx="31368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299" y="6356350"/>
            <a:ext cx="2311399" cy="365125"/>
          </a:xfrm>
          <a:prstGeom prst="rect">
            <a:avLst/>
          </a:prstGeom>
        </p:spPr>
        <p:txBody>
          <a:bodyPr vert="horz" lIns="91440" tIns="45720" rIns="91440" bIns="4572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>
              <a:defRPr/>
            </a:pPr>
            <a:fld id="{AD22CD3B-FDDF-4998-970C-76E6E0BEC65F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928" r:id="rId1"/>
    <p:sldLayoutId id="2147483929" r:id="rId2"/>
    <p:sldLayoutId id="2147483930" r:id="rId3"/>
    <p:sldLayoutId id="2147483931" r:id="rId4"/>
    <p:sldLayoutId id="2147483932" r:id="rId5"/>
    <p:sldLayoutId id="2147483933" r:id="rId6"/>
    <p:sldLayoutId id="2147483934" r:id="rId7"/>
    <p:sldLayoutId id="2147483935" r:id="rId8"/>
    <p:sldLayoutId id="2147483936" r:id="rId9"/>
    <p:sldLayoutId id="2147483937" r:id="rId10"/>
    <p:sldLayoutId id="2147483938" r:id="rId11"/>
    <p:sldLayoutId id="2147483939" r:id="rId12"/>
    <p:sldLayoutId id="2147483940" r:id="rId13"/>
    <p:sldLayoutId id="2147483951" r:id="rId14"/>
  </p:sldLayoutIdLst>
  <p:transition/>
  <p:hf sldNum="0" hdr="0" ft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rtl="0" eaLnBrk="1" latinLnBrk="1" hangingPunct="1">
        <a:defRPr>
          <a:solidFill>
            <a:schemeClr val="tx2"/>
          </a:solidFill>
        </a:defRPr>
      </a:lvl2pPr>
      <a:lvl3pPr rtl="0" eaLnBrk="1" latinLnBrk="1" hangingPunct="1">
        <a:defRPr>
          <a:solidFill>
            <a:schemeClr val="tx2"/>
          </a:solidFill>
        </a:defRPr>
      </a:lvl3pPr>
      <a:lvl4pPr rtl="0" eaLnBrk="1" latinLnBrk="1" hangingPunct="1">
        <a:defRPr>
          <a:solidFill>
            <a:schemeClr val="tx2"/>
          </a:solidFill>
        </a:defRPr>
      </a:lvl4pPr>
      <a:lvl5pPr rtl="0" eaLnBrk="1" latinLnBrk="1" hangingPunct="1">
        <a:defRPr>
          <a:solidFill>
            <a:schemeClr val="tx2"/>
          </a:solidFill>
        </a:defRPr>
      </a:lvl5pPr>
      <a:lvl6pPr rtl="0" eaLnBrk="1" latinLnBrk="1" hangingPunct="1">
        <a:defRPr>
          <a:solidFill>
            <a:schemeClr val="tx2"/>
          </a:solidFill>
        </a:defRPr>
      </a:lvl6pPr>
      <a:lvl7pPr rtl="0" eaLnBrk="1" latinLnBrk="1" hangingPunct="1">
        <a:defRPr>
          <a:solidFill>
            <a:schemeClr val="tx2"/>
          </a:solidFill>
        </a:defRPr>
      </a:lvl7pPr>
      <a:lvl8pPr rtl="0" eaLnBrk="1" latinLnBrk="1" hangingPunct="1">
        <a:defRPr>
          <a:solidFill>
            <a:schemeClr val="tx2"/>
          </a:solidFill>
        </a:defRPr>
      </a:lvl8pPr>
      <a:lvl9pPr rtl="0" eaLnBrk="1" latinLnBrk="1" hangingPunct="1">
        <a:defRPr>
          <a:solidFill>
            <a:schemeClr val="tx2"/>
          </a:solidFill>
        </a:defRPr>
      </a:lvl9pPr>
    </p:titleStyle>
    <p:bodyStyle>
      <a:lvl1pPr marL="342900" indent="-342900" algn="l" defTabSz="914400" rtl="0" eaLnBrk="1" latinLnBrk="1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image" Target="../media/image5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01</a:t>
            </a:r>
            <a:endParaRPr lang="ko-KR" altLang="en-US" b="1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>
          <a:xfrm>
            <a:off x="1243307" y="916800"/>
            <a:ext cx="8102305" cy="360363"/>
          </a:xfrm>
        </p:spPr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b="1"/>
              <a:t>클라우드 운영 현황 </a:t>
            </a:r>
            <a:r>
              <a:rPr lang="en-US" altLang="ko-KR" sz="2000" b="1"/>
              <a:t>(2/2)</a:t>
            </a:r>
            <a:endParaRPr lang="ko-KR" altLang="en-US" sz="2000" b="1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3824678"/>
              </p:ext>
            </p:extLst>
          </p:nvPr>
        </p:nvGraphicFramePr>
        <p:xfrm>
          <a:off x="565920" y="1634509"/>
          <a:ext cx="8779693" cy="2813760"/>
        </p:xfrm>
        <a:graphic>
          <a:graphicData uri="http://schemas.openxmlformats.org/drawingml/2006/table">
            <a:tbl>
              <a:tblPr/>
              <a:tblGrid>
                <a:gridCol w="7255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25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158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158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1583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15834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15834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1583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15834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15834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801923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</a:tblGrid>
              <a:tr h="2916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법인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운영구분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08</a:t>
                      </a:r>
                      <a:r>
                        <a:rPr kumimoji="0" lang="ko-KR" altLang="en-US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월 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</a:t>
                      </a:r>
                      <a:r>
                        <a:rPr kumimoji="0" lang="ko-KR" altLang="en-US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누적</a:t>
                      </a:r>
                      <a:r>
                        <a:rPr kumimoji="0" lang="en-US" altLang="ko-KR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)</a:t>
                      </a:r>
                      <a:endParaRPr kumimoji="0" lang="ko-KR" altLang="en-US" sz="900" b="1" i="0" u="none" strike="noStrike" kern="1200" cap="none" spc="-50" normalizeH="0" baseline="0" dirty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100" b="1" i="0" u="none" strike="noStrike" kern="1200" cap="none" spc="-8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100" b="1" i="0" u="none" strike="noStrike" kern="1200" cap="none" spc="-8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전월 대비 증감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비고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5600">
                <a:tc v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클러스터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호스트 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Container (AI)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비고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클러스터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호스트  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Container (AI)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비고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4400">
                <a:tc row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24 </a:t>
                      </a: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(12/12)</a:t>
                      </a:r>
                      <a:endParaRPr kumimoji="0" lang="ko-KR" altLang="en-US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120 </a:t>
                      </a: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(60/60)</a:t>
                      </a:r>
                      <a:endParaRPr kumimoji="0" lang="ko-KR" altLang="en-US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맑은 고딕"/>
                          <a:ea typeface="맑은 고딕"/>
                        </a:rPr>
                        <a:t>570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-102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의왕</a:t>
                      </a: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안성</a:t>
                      </a: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)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440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공통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)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275</a:t>
                      </a:r>
                      <a:endParaRPr kumimoji="0" lang="ko-KR" altLang="en-US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rgbClr val="FF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은행 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rgbClr val="FF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: 138</a:t>
                      </a: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rgbClr val="FF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중앙회 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rgbClr val="FF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: 137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68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440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1" i="0" u="none" strike="noStrike"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4</a:t>
                      </a:r>
                      <a:endParaRPr kumimoji="0" lang="en-US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16</a:t>
                      </a:r>
                      <a:endParaRPr kumimoji="0" lang="en-US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rtl="0">
                        <a:defRPr/>
                      </a:pPr>
                      <a:r>
                        <a:rPr lang="en-US" altLang="ko-KR" sz="900" b="0" i="0" u="none" strike="noStrike" dirty="0">
                          <a:solidFill>
                            <a:srgbClr val="404040"/>
                          </a:solidFill>
                          <a:effectLst/>
                          <a:latin typeface="맑은 고딕"/>
                          <a:ea typeface="맑은 고딕"/>
                        </a:rPr>
                        <a:t>231</a:t>
                      </a:r>
                      <a:endParaRPr lang="en-US" altLang="ko-KR" sz="900" b="0" i="0" u="none" strike="noStrike" dirty="0">
                        <a:solidFill>
                          <a:srgbClr val="40404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7620" marR="7620" marT="7620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 dirty="0">
                        <a:solidFill>
                          <a:srgbClr val="FF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-13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4400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공통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)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91</a:t>
                      </a:r>
                      <a:endParaRPr kumimoji="0" lang="en-US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rgbClr val="FF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rgbClr val="FF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 :46</a:t>
                      </a: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rgbClr val="FF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중앙회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rgbClr val="FF0000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: 45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 latinLnBrk="1">
                        <a:defRPr/>
                      </a:pPr>
                      <a:r>
                        <a:rPr lang="en-US" altLang="ko-KR" sz="900" dirty="0">
                          <a:latin typeface="맑은 고딕"/>
                          <a:ea typeface="맑은 고딕"/>
                        </a:rPr>
                        <a:t>15</a:t>
                      </a:r>
                      <a:endParaRPr lang="ko-KR" altLang="en-US" sz="900" dirty="0"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4400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중앙회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8 </a:t>
                      </a: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(4/4)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36 </a:t>
                      </a: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(18/18)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216</a:t>
                      </a:r>
                      <a:endParaRPr kumimoji="0" lang="en-US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 dirty="0">
                        <a:solidFill>
                          <a:srgbClr val="FF0000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-17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의왕</a:t>
                      </a: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안성</a:t>
                      </a: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)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4400"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7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endParaRPr kumimoji="0" lang="en-US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4</a:t>
                      </a:r>
                      <a:endParaRPr kumimoji="0" lang="en-US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80</a:t>
                      </a:r>
                      <a:endParaRPr kumimoji="0" lang="en-US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-3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84400"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합계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000" b="0" i="0" u="none" strike="noStrike">
                        <a:effectLst/>
                        <a:latin typeface="돋움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37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176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1,463</a:t>
                      </a:r>
                      <a:endParaRPr kumimoji="0" 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-52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3" name="그룹 12"/>
          <p:cNvGrpSpPr/>
          <p:nvPr/>
        </p:nvGrpSpPr>
        <p:grpSpPr>
          <a:xfrm>
            <a:off x="560388" y="1406820"/>
            <a:ext cx="8788732" cy="236287"/>
            <a:chOff x="560388" y="1536951"/>
            <a:chExt cx="8788732" cy="236287"/>
          </a:xfrm>
        </p:grpSpPr>
        <p:grpSp>
          <p:nvGrpSpPr>
            <p:cNvPr id="14" name="그룹 13"/>
            <p:cNvGrpSpPr/>
            <p:nvPr/>
          </p:nvGrpSpPr>
          <p:grpSpPr>
            <a:xfrm>
              <a:off x="560388" y="1536951"/>
              <a:ext cx="8283764" cy="211452"/>
              <a:chOff x="983148" y="1520472"/>
              <a:chExt cx="8283764" cy="211452"/>
            </a:xfrm>
          </p:grpSpPr>
          <p:sp>
            <p:nvSpPr>
              <p:cNvPr id="16" name="TextBox 15"/>
              <p:cNvSpPr txBox="1"/>
              <p:nvPr/>
            </p:nvSpPr>
            <p:spPr>
              <a:xfrm>
                <a:off x="1270260" y="1520472"/>
                <a:ext cx="7996652" cy="2114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>
                  <a:spcBef>
                    <a:spcPct val="0"/>
                  </a:spcBef>
                  <a:spcAft>
                    <a:spcPct val="0"/>
                  </a:spcAft>
                  <a:buSzPct val="250000"/>
                  <a:tabLst>
                    <a:tab pos="180975" algn="l"/>
                  </a:tabLst>
                  <a:defRPr/>
                </a:pPr>
                <a:r>
                  <a:rPr lang="en-US" altLang="ko-KR" sz="1200" b="1" spc="-50">
                    <a:gradFill>
                      <a:gsLst>
                        <a:gs pos="42080">
                          <a:prstClr val="black">
                            <a:lumMod val="75000"/>
                            <a:lumOff val="25000"/>
                          </a:prstClr>
                        </a:gs>
                        <a:gs pos="21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5400000" scaled="0"/>
                    </a:gradFill>
                    <a:latin typeface="맑은 고딕"/>
                    <a:ea typeface="맑은 고딕"/>
                    <a:cs typeface="+mn-cs"/>
                  </a:rPr>
                  <a:t>PaaS</a:t>
                </a:r>
                <a:r>
                  <a:rPr lang="ko-KR" altLang="en-US" sz="1200" b="1" spc="-50">
                    <a:gradFill>
                      <a:gsLst>
                        <a:gs pos="42080">
                          <a:prstClr val="black">
                            <a:lumMod val="75000"/>
                            <a:lumOff val="25000"/>
                          </a:prstClr>
                        </a:gs>
                        <a:gs pos="21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5400000" scaled="0"/>
                    </a:gradFill>
                    <a:latin typeface="맑은 고딕"/>
                    <a:ea typeface="맑은 고딕"/>
                    <a:cs typeface="+mn-cs"/>
                  </a:rPr>
                  <a:t> 운영 현황</a:t>
                </a:r>
              </a:p>
            </p:txBody>
          </p:sp>
          <p:pic>
            <p:nvPicPr>
              <p:cNvPr id="17" name="그림 16"/>
              <p:cNvPicPr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983148" y="1528998"/>
                <a:ext cx="194400" cy="194400"/>
              </a:xfrm>
              <a:prstGeom prst="rect">
                <a:avLst/>
              </a:prstGeom>
            </p:spPr>
          </p:pic>
        </p:grpSp>
        <p:sp>
          <p:nvSpPr>
            <p:cNvPr id="15" name="TextBox 14"/>
            <p:cNvSpPr txBox="1"/>
            <p:nvPr/>
          </p:nvSpPr>
          <p:spPr>
            <a:xfrm>
              <a:off x="8524608" y="1562035"/>
              <a:ext cx="824512" cy="211203"/>
            </a:xfrm>
            <a:prstGeom prst="rect">
              <a:avLst/>
            </a:prstGeom>
          </p:spPr>
          <p:txBody>
            <a:bodyPr wrap="none" lIns="36000" tIns="36000" rIns="36000" bIns="36000" anchor="ctr" anchorCtr="0">
              <a:spAutoFit/>
            </a:bodyPr>
            <a:lstStyle>
              <a:defPPr>
                <a:defRPr lang="ko-KR"/>
              </a:defPPr>
              <a:lvl1pPr>
                <a:spcBef>
                  <a:spcPts val="400"/>
                </a:spcBef>
                <a:defRPr sz="1000" spc="-20">
                  <a:gradFill>
                    <a:gsLst>
                      <a:gs pos="74580">
                        <a:schemeClr val="tx1">
                          <a:lumMod val="65000"/>
                          <a:lumOff val="35000"/>
                        </a:schemeClr>
                      </a:gs>
                      <a:gs pos="6375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0"/>
                  </a:gradFill>
                  <a:latin typeface="Rix고딕 L"/>
                  <a:ea typeface="Rix고딕 L"/>
                </a:defRPr>
              </a:lvl1pPr>
            </a:lstStyle>
            <a:p>
              <a:pPr algn="r">
                <a:defRPr/>
              </a:pPr>
              <a:r>
                <a:rPr lang="en-US" altLang="ko-KR" sz="900" spc="-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/>
                  <a:ea typeface="맑은 고딕"/>
                </a:rPr>
                <a:t>2026.08.31 </a:t>
              </a:r>
              <a:r>
                <a:rPr lang="ko-KR" altLang="en-US" sz="900" spc="-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/>
                  <a:ea typeface="맑은 고딕"/>
                </a:rPr>
                <a:t>기준</a:t>
              </a: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2-1</a:t>
            </a:r>
            <a:endParaRPr lang="ko-KR" altLang="en-US" b="1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/>
          </a:bodyPr>
          <a:lstStyle/>
          <a:p>
            <a:pPr lvl="0">
              <a:defRPr/>
            </a:pPr>
            <a:r>
              <a:rPr lang="ko-KR" altLang="en-US" sz="2000" b="1"/>
              <a:t>라이선스 현황 </a:t>
            </a:r>
            <a:r>
              <a:rPr lang="en-US" altLang="ko-KR" sz="2000" b="1"/>
              <a:t>&gt; VMware</a:t>
            </a:r>
            <a:endParaRPr lang="ko-KR" altLang="en-US" sz="2000" b="1"/>
          </a:p>
        </p:txBody>
      </p:sp>
      <p:graphicFrame>
        <p:nvGraphicFramePr>
          <p:cNvPr id="6" name="표 5"/>
          <p:cNvGraphicFramePr>
            <a:graphicFrameLocks noGrp="1"/>
          </p:cNvGraphicFramePr>
          <p:nvPr/>
        </p:nvGraphicFramePr>
        <p:xfrm>
          <a:off x="562584" y="1635561"/>
          <a:ext cx="8783030" cy="2305193"/>
        </p:xfrm>
        <a:graphic>
          <a:graphicData uri="http://schemas.openxmlformats.org/drawingml/2006/table">
            <a:tbl>
              <a:tblPr/>
              <a:tblGrid>
                <a:gridCol w="6422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5660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447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844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3519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53259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422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48899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488992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488992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488992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1249238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</a:tblGrid>
              <a:tr h="158297"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솔루션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100" b="1" i="0" u="none" strike="noStrike" kern="1200" cap="none" spc="-8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유지보수 계약 현황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gridSpan="4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실 운영 및 구매 현황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1" i="0" u="none" strike="noStrike" kern="1200" cap="none" spc="-3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row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비고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58297"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제조사 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 rowSpan="2"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제품명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80" normalizeH="0" baseline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제품명</a:t>
                      </a:r>
                      <a:endParaRPr kumimoji="0" lang="ko-KR" altLang="en-US" sz="900" b="1" i="0" u="none" strike="noStrike" kern="1200" cap="none" spc="-8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중앙회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합계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800" b="1" i="0" u="none" strike="noStrike" kern="1200" cap="none" spc="-3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중앙회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800" b="1" i="0" u="none" strike="noStrike" kern="1200" cap="none" spc="-3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gridSpan="3"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구매</a:t>
                      </a:r>
                      <a:endParaRPr kumimoji="0" lang="en-US" altLang="ko-KR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구매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6720">
                <a:tc rowSpan="7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VMware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rowSpan="5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IaaS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vCenter Server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Standard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kumimoji="0" lang="ko-KR" altLang="en-US" sz="9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kumimoji="0" lang="ko-KR" altLang="en-US" sz="9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4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kumimoji="0" lang="ko-KR" altLang="en-US" sz="9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kumimoji="0" lang="ko-KR" altLang="en-US" sz="9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ko-KR" sz="8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672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en-US" sz="1000" b="0" i="0" u="none" strike="noStrike">
                        <a:effectLst/>
                        <a:latin typeface="Arial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900" b="1" i="0" u="none" strike="noStrike" kern="1200" cap="none" spc="-2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vSphere (ESXi)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Standard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121</a:t>
                      </a:r>
                      <a:endParaRPr kumimoji="0" lang="en-US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79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200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altLang="ko-KR" sz="9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110</a:t>
                      </a:r>
                      <a:endParaRPr lang="en-US" altLang="ko-KR" sz="900" b="0" i="0" u="none" strike="noStrike" spc="-50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altLang="ko-KR" sz="9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121</a:t>
                      </a:r>
                      <a:endParaRPr lang="en-US" altLang="ko-KR" sz="900" b="1" i="0" u="none" strike="noStrike" spc="-50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altLang="ko-KR" sz="9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52</a:t>
                      </a:r>
                      <a:endParaRPr lang="en-US" altLang="ko-KR" sz="900" b="0" i="0" u="none" strike="noStrike" spc="-50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altLang="ko-KR" sz="9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79</a:t>
                      </a:r>
                      <a:endParaRPr lang="en-US" altLang="ko-KR" sz="900" b="1" i="0" u="none" strike="noStrike" spc="-50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ko-KR" sz="8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5593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000" b="0" i="0" u="none" strike="noStrike" kern="1200" cap="none" spc="-2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gradFill>
                          <a:gsLst>
                            <a:gs pos="54170">
                              <a:schemeClr val="tx1">
                                <a:lumMod val="75000"/>
                                <a:lumOff val="25000"/>
                              </a:schemeClr>
                            </a:gs>
                            <a:gs pos="47920">
                              <a:schemeClr val="tx1">
                                <a:lumMod val="75000"/>
                                <a:lumOff val="25000"/>
                              </a:schemeClr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Enterprise Plus</a:t>
                      </a:r>
                      <a:endParaRPr lang="en-US" sz="900" spc="-5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846</a:t>
                      </a:r>
                      <a:endParaRPr kumimoji="0" lang="en-US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530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1,376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altLang="ko-KR" sz="9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906</a:t>
                      </a:r>
                      <a:endParaRPr lang="en-US" altLang="ko-KR" sz="900" b="0" i="0" u="none" strike="noStrike" spc="-50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altLang="ko-KR" sz="9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834</a:t>
                      </a:r>
                      <a:endParaRPr lang="en-US" altLang="ko-KR" sz="900" b="1" i="0" u="none" strike="noStrike" spc="-50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altLang="ko-KR" sz="900" b="0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512</a:t>
                      </a:r>
                      <a:endParaRPr lang="en-US" altLang="ko-KR" sz="900" b="0" i="0" u="none" strike="noStrike" spc="-50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altLang="ko-KR" sz="900" b="1" i="0" u="none" strike="noStrike" spc="-50" baseline="0">
                          <a:solidFill>
                            <a:srgbClr val="000000"/>
                          </a:solidFill>
                          <a:effectLst/>
                          <a:latin typeface="맑은 고딕"/>
                          <a:ea typeface="맑은 고딕"/>
                        </a:rPr>
                        <a:t>542</a:t>
                      </a:r>
                      <a:endParaRPr lang="en-US" altLang="ko-KR" sz="900" b="1" i="0" u="none" strike="noStrike" spc="-50" baseline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ko-KR" sz="8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1166">
                <a:tc vMerge="1">
                  <a:txBody>
                    <a:bodyPr/>
                    <a:lstStyle/>
                    <a:p>
                      <a:pPr latinLnBrk="1">
                        <a:defRPr/>
                      </a:pPr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900" b="1" i="0" u="none" strike="noStrike" kern="1200" cap="none" spc="-2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vSAN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Advanced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168</a:t>
                      </a:r>
                      <a:endParaRPr kumimoji="0" lang="en-US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168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136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168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ko-KR" sz="8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6720">
                <a:tc vMerge="1">
                  <a:txBody>
                    <a:bodyPr/>
                    <a:lstStyle/>
                    <a:p>
                      <a:pPr algn="ctr">
                        <a:defRPr/>
                      </a:pPr>
                      <a:endParaRPr lang="ko-KR" altLang="en-US" sz="1000" b="0" i="0" u="none" strike="noStrike">
                        <a:effectLst/>
                        <a:latin typeface="돋움"/>
                      </a:endParaRPr>
                    </a:p>
                  </a:txBody>
                  <a:tcPr marL="9525" marR="9525" marT="9525" marB="0" anchor="ctr"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1" i="0" u="none" strike="noStrike" kern="1200" cap="none" spc="-2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Aria Suite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Advanced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488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144</a:t>
                      </a:r>
                      <a:endParaRPr kumimoji="0" lang="en-US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632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190</a:t>
                      </a:r>
                      <a:endParaRPr kumimoji="0" lang="en-US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488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10</a:t>
                      </a:r>
                      <a:endParaRPr kumimoji="0" lang="en-US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144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ko-KR" sz="8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6720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SDN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NSX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Advanced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200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50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250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642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522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266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274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ko-KR" sz="8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62103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1" i="0" u="none" strike="noStrike" kern="1200" cap="none" spc="-20" normalizeH="0" baseline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65000"/>
                            <a:lumOff val="3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Aria Operations</a:t>
                      </a: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for Networks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Enterprise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200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50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250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642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522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266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274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endParaRPr kumimoji="0" lang="en-US" altLang="ko-KR" sz="800" b="0" i="0" u="none" strike="noStrike" kern="1200" cap="none" spc="-50" normalizeH="0" baseline="0">
                        <a:solidFill>
                          <a:schemeClr val="tx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graphicFrame>
        <p:nvGraphicFramePr>
          <p:cNvPr id="4" name="표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25168132"/>
              </p:ext>
            </p:extLst>
          </p:nvPr>
        </p:nvGraphicFramePr>
        <p:xfrm>
          <a:off x="560383" y="4218002"/>
          <a:ext cx="8785232" cy="2232387"/>
        </p:xfrm>
        <a:graphic>
          <a:graphicData uri="http://schemas.openxmlformats.org/drawingml/2006/table">
            <a:tbl>
              <a:tblPr/>
              <a:tblGrid>
                <a:gridCol w="665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953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1849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0584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058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058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05842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0584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74001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1237128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130898"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솔루션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1100" b="1" i="0" u="none" strike="noStrike" kern="1200" cap="none" spc="-8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구독 계약 현황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noFill/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tc gridSpan="3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실 운영 현황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solidFill>
                      <a:schemeClr val="accent1"/>
                    </a:solidFill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비고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1795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제조사 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 grid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제품명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80" normalizeH="0" baseline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제품명</a:t>
                      </a:r>
                      <a:endParaRPr kumimoji="0" lang="ko-KR" altLang="en-US" sz="900" b="1" i="0" u="none" strike="noStrike" kern="1200" cap="none" spc="-8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중앙회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합계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중앙회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합계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accent3">
                          <a:lumMod val="60000"/>
                          <a:lumOff val="40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sz="1100" b="1" i="0" u="none" strike="noStrike" kern="1200" cap="none" spc="-8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0" marR="0" marT="0" marB="0" anchor="ctr">
                    <a:lnL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4908">
                <a:tc rowSpan="7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VMware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VCF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VMware Cloud Foundation 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3,200</a:t>
                      </a:r>
                      <a:endParaRPr kumimoji="0" lang="en-US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1,152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4,352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3,200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1,152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4,352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신규 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차분 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60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개월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(25.11~30.10)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4908">
                <a:tc v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</a:tcPr>
                </a:tc>
                <a:tc rowSpan="2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AVI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Avi Load Balancer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32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32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64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32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32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64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갱신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1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차분 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58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개월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(26.01~30.10)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908"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Avi Load Balancer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40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60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40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 typeface="Arial"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60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1">
                            <a:lumMod val="65000"/>
                          </a:schemeClr>
                        </a:buClr>
                        <a:buSzPct val="80000"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26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년 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월 갱신 예정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4908"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rowSpan="4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PaaS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sz="900" b="1" i="0" u="none" strike="noStrike" spc="-50" baseline="0">
                          <a:solidFill>
                            <a:srgbClr val="404040"/>
                          </a:solidFill>
                          <a:effectLst/>
                          <a:latin typeface="맑은 고딕"/>
                          <a:ea typeface="맑은 고딕"/>
                        </a:rPr>
                        <a:t>Tanzu Operations Manager</a:t>
                      </a:r>
                      <a:endParaRPr lang="en-US" sz="900" b="1" i="0" u="none" strike="noStrike" spc="-50" baseline="0">
                        <a:solidFill>
                          <a:srgbClr val="40404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5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3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5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3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7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51237"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it-IT" sz="900" b="1" i="0" u="none" strike="noStrike" spc="-50" baseline="0" dirty="0">
                          <a:solidFill>
                            <a:srgbClr val="404040"/>
                          </a:solidFill>
                          <a:effectLst/>
                          <a:latin typeface="맑은 고딕"/>
                          <a:ea typeface="맑은 고딕"/>
                        </a:rPr>
                        <a:t>TAS App Service (50 AI)</a:t>
                      </a:r>
                      <a:endParaRPr lang="it-IT" sz="900" b="1" i="0" u="none" strike="noStrike" spc="-50" baseline="0" dirty="0">
                        <a:solidFill>
                          <a:srgbClr val="40404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1,200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600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1800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984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479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1,463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4908"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sz="900" b="1" i="0" u="none" strike="noStrike" spc="-50" baseline="0" dirty="0">
                          <a:solidFill>
                            <a:srgbClr val="404040"/>
                          </a:solidFill>
                          <a:effectLst/>
                          <a:latin typeface="맑은 고딕"/>
                          <a:ea typeface="맑은 고딕"/>
                        </a:rPr>
                        <a:t>Tanzu </a:t>
                      </a:r>
                      <a:r>
                        <a:rPr lang="en-US" sz="900" b="1" i="0" u="none" strike="noStrike" spc="-50" baseline="0" dirty="0" err="1">
                          <a:solidFill>
                            <a:srgbClr val="404040"/>
                          </a:solidFill>
                          <a:effectLst/>
                          <a:latin typeface="맑은 고딕"/>
                          <a:ea typeface="맑은 고딕"/>
                        </a:rPr>
                        <a:t>GemFire</a:t>
                      </a:r>
                      <a:endParaRPr lang="en-US" sz="900" b="1" i="0" u="none" strike="noStrike" spc="-50" baseline="0" dirty="0">
                        <a:solidFill>
                          <a:srgbClr val="404040"/>
                        </a:solidFill>
                        <a:effectLst/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172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111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283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14908"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8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>
                        <a:buNone/>
                        <a:defRPr/>
                      </a:pPr>
                      <a:r>
                        <a:rPr lang="en-US" sz="900" b="1" i="0" u="none" strike="noStrike" spc="-50" baseline="0">
                          <a:solidFill>
                            <a:srgbClr val="404040"/>
                          </a:solidFill>
                          <a:effectLst/>
                          <a:latin typeface="맑은 고딕"/>
                          <a:ea typeface="맑은 고딕"/>
                        </a:rPr>
                        <a:t>Tanzu RabbitMQ</a:t>
                      </a:r>
                      <a:endParaRPr lang="en-US" sz="900" b="1" i="0" u="none" strike="noStrike" spc="-50" baseline="0">
                        <a:solidFill>
                          <a:srgbClr val="404040"/>
                        </a:solidFill>
                        <a:latin typeface="맑은 고딕"/>
                        <a:ea typeface="맑은 고딕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23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None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23</a:t>
                      </a:r>
                      <a:endParaRPr kumimoji="0" lang="en-US" altLang="ko-KR" sz="900" b="0" i="0" u="none" strike="noStrike" kern="1200" cap="none" spc="-50" normalizeH="0" baseline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46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-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en-US" altLang="ko-KR" sz="900" b="1" i="0" u="none" strike="noStrike" kern="1200" cap="none" spc="-50" normalizeH="0" baseline="0" dirty="0">
                        <a:solidFill>
                          <a:prstClr val="black">
                            <a:lumMod val="75000"/>
                            <a:lumOff val="25000"/>
                          </a:prstClr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pSp>
        <p:nvGrpSpPr>
          <p:cNvPr id="18" name="그룹 17"/>
          <p:cNvGrpSpPr/>
          <p:nvPr/>
        </p:nvGrpSpPr>
        <p:grpSpPr>
          <a:xfrm>
            <a:off x="560388" y="1406820"/>
            <a:ext cx="8788732" cy="236287"/>
            <a:chOff x="560388" y="1536951"/>
            <a:chExt cx="8788732" cy="236287"/>
          </a:xfrm>
        </p:grpSpPr>
        <p:grpSp>
          <p:nvGrpSpPr>
            <p:cNvPr id="19" name="그룹 18"/>
            <p:cNvGrpSpPr/>
            <p:nvPr/>
          </p:nvGrpSpPr>
          <p:grpSpPr>
            <a:xfrm>
              <a:off x="560388" y="1536951"/>
              <a:ext cx="8283764" cy="211452"/>
              <a:chOff x="983148" y="1520472"/>
              <a:chExt cx="8283764" cy="211452"/>
            </a:xfrm>
          </p:grpSpPr>
          <p:sp>
            <p:nvSpPr>
              <p:cNvPr id="21" name="TextBox 20"/>
              <p:cNvSpPr txBox="1"/>
              <p:nvPr/>
            </p:nvSpPr>
            <p:spPr>
              <a:xfrm>
                <a:off x="1270260" y="1520472"/>
                <a:ext cx="7996652" cy="211452"/>
              </a:xfrm>
              <a:prstGeom prst="rect">
                <a:avLst/>
              </a:prstGeom>
              <a:noFill/>
            </p:spPr>
            <p:txBody>
              <a:bodyPr wrap="square" lIns="0" tIns="0" rIns="0" bIns="0" anchor="ctr">
                <a:noAutofit/>
              </a:bodyPr>
              <a:lstStyle/>
              <a:p>
                <a:pPr>
                  <a:spcBef>
                    <a:spcPct val="0"/>
                  </a:spcBef>
                  <a:spcAft>
                    <a:spcPct val="0"/>
                  </a:spcAft>
                  <a:buSzPct val="250000"/>
                  <a:tabLst>
                    <a:tab pos="180975" algn="l"/>
                  </a:tabLst>
                  <a:defRPr/>
                </a:pPr>
                <a:r>
                  <a:rPr lang="en-US" altLang="ko-KR" sz="1200" b="1" spc="-50">
                    <a:gradFill>
                      <a:gsLst>
                        <a:gs pos="42080">
                          <a:prstClr val="black">
                            <a:lumMod val="75000"/>
                            <a:lumOff val="25000"/>
                          </a:prstClr>
                        </a:gs>
                        <a:gs pos="21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5400000" scaled="0"/>
                    </a:gradFill>
                    <a:latin typeface="맑은 고딕"/>
                    <a:ea typeface="맑은 고딕"/>
                    <a:cs typeface="+mn-cs"/>
                  </a:rPr>
                  <a:t>HPP</a:t>
                </a:r>
                <a:r>
                  <a:rPr lang="ko-KR" altLang="en-US" sz="1200" b="1" spc="-50">
                    <a:gradFill>
                      <a:gsLst>
                        <a:gs pos="42080">
                          <a:prstClr val="black">
                            <a:lumMod val="75000"/>
                            <a:lumOff val="25000"/>
                          </a:prstClr>
                        </a:gs>
                        <a:gs pos="21000">
                          <a:prstClr val="black">
                            <a:lumMod val="75000"/>
                            <a:lumOff val="25000"/>
                          </a:prstClr>
                        </a:gs>
                      </a:gsLst>
                      <a:lin ang="5400000" scaled="0"/>
                    </a:gradFill>
                    <a:latin typeface="맑은 고딕"/>
                    <a:ea typeface="맑은 고딕"/>
                    <a:cs typeface="+mn-cs"/>
                  </a:rPr>
                  <a:t> 라이센스</a:t>
                </a:r>
              </a:p>
            </p:txBody>
          </p:sp>
          <p:pic>
            <p:nvPicPr>
              <p:cNvPr id="22" name="그림 21"/>
              <p:cNvPicPr/>
              <p:nvPr/>
            </p:nvPicPr>
            <p:blipFill rotWithShape="1">
              <a:blip r:embed="rId2"/>
              <a:srcRect/>
              <a:stretch>
                <a:fillRect/>
              </a:stretch>
            </p:blipFill>
            <p:spPr>
              <a:xfrm>
                <a:off x="983148" y="1528998"/>
                <a:ext cx="194400" cy="194400"/>
              </a:xfrm>
              <a:prstGeom prst="rect">
                <a:avLst/>
              </a:prstGeom>
            </p:spPr>
          </p:pic>
        </p:grpSp>
        <p:sp>
          <p:nvSpPr>
            <p:cNvPr id="20" name="TextBox 19"/>
            <p:cNvSpPr txBox="1"/>
            <p:nvPr/>
          </p:nvSpPr>
          <p:spPr>
            <a:xfrm>
              <a:off x="8524608" y="1562035"/>
              <a:ext cx="824512" cy="211203"/>
            </a:xfrm>
            <a:prstGeom prst="rect">
              <a:avLst/>
            </a:prstGeom>
          </p:spPr>
          <p:txBody>
            <a:bodyPr wrap="none" lIns="36000" tIns="36000" rIns="36000" bIns="36000" anchor="ctr" anchorCtr="0">
              <a:spAutoFit/>
            </a:bodyPr>
            <a:lstStyle>
              <a:defPPr>
                <a:defRPr lang="ko-KR"/>
              </a:defPPr>
              <a:lvl1pPr>
                <a:spcBef>
                  <a:spcPts val="400"/>
                </a:spcBef>
                <a:defRPr sz="1000" spc="-20">
                  <a:gradFill>
                    <a:gsLst>
                      <a:gs pos="74580">
                        <a:schemeClr val="tx1">
                          <a:lumMod val="65000"/>
                          <a:lumOff val="35000"/>
                        </a:schemeClr>
                      </a:gs>
                      <a:gs pos="63750">
                        <a:schemeClr val="tx1">
                          <a:lumMod val="65000"/>
                          <a:lumOff val="35000"/>
                        </a:schemeClr>
                      </a:gs>
                    </a:gsLst>
                    <a:lin ang="5400000" scaled="0"/>
                  </a:gradFill>
                  <a:latin typeface="Rix고딕 L"/>
                  <a:ea typeface="Rix고딕 L"/>
                </a:defRPr>
              </a:lvl1pPr>
            </a:lstStyle>
            <a:p>
              <a:pPr algn="r">
                <a:defRPr/>
              </a:pPr>
              <a:r>
                <a:rPr lang="en-US" altLang="ko-KR" sz="900" spc="-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/>
                  <a:ea typeface="맑은 고딕"/>
                </a:rPr>
                <a:t>2026.08.31 </a:t>
              </a:r>
              <a:r>
                <a:rPr lang="ko-KR" altLang="en-US" sz="900" spc="-50" dirty="0">
                  <a:solidFill>
                    <a:prstClr val="black">
                      <a:lumMod val="75000"/>
                      <a:lumOff val="25000"/>
                    </a:prstClr>
                  </a:solidFill>
                  <a:latin typeface="맑은 고딕"/>
                  <a:ea typeface="맑은 고딕"/>
                </a:rPr>
                <a:t>기준</a:t>
              </a:r>
            </a:p>
          </p:txBody>
        </p:sp>
      </p:grpSp>
      <p:pic>
        <p:nvPicPr>
          <p:cNvPr id="27" name="그림 26"/>
          <p:cNvPicPr/>
          <p:nvPr/>
        </p:nvPicPr>
        <p:blipFill rotWithShape="1">
          <a:blip r:embed="rId2"/>
          <a:srcRect/>
          <a:stretch>
            <a:fillRect/>
          </a:stretch>
        </p:blipFill>
        <p:spPr>
          <a:xfrm>
            <a:off x="560388" y="4000553"/>
            <a:ext cx="194400" cy="194400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8524608" y="4017112"/>
            <a:ext cx="824512" cy="211203"/>
          </a:xfrm>
          <a:prstGeom prst="rect">
            <a:avLst/>
          </a:prstGeom>
        </p:spPr>
        <p:txBody>
          <a:bodyPr wrap="none" lIns="36000" tIns="36000" rIns="36000" bIns="36000" anchor="ctr" anchorCtr="0">
            <a:spAutoFit/>
          </a:bodyPr>
          <a:lstStyle>
            <a:defPPr>
              <a:defRPr lang="ko-KR"/>
            </a:defPPr>
            <a:lvl1pPr>
              <a:spcBef>
                <a:spcPts val="400"/>
              </a:spcBef>
              <a:defRPr sz="1000" spc="-20">
                <a:gradFill>
                  <a:gsLst>
                    <a:gs pos="74580">
                      <a:schemeClr val="tx1">
                        <a:lumMod val="65000"/>
                        <a:lumOff val="35000"/>
                      </a:schemeClr>
                    </a:gs>
                    <a:gs pos="6375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L"/>
                <a:ea typeface="Rix고딕 L"/>
              </a:defRPr>
            </a:lvl1pPr>
          </a:lstStyle>
          <a:p>
            <a:pPr algn="r">
              <a:defRPr/>
            </a:pPr>
            <a:r>
              <a:rPr lang="en-US" altLang="ko-KR" sz="90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2026.08.31 </a:t>
            </a:r>
            <a:r>
              <a:rPr lang="ko-KR" altLang="en-US" sz="90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/>
                <a:ea typeface="맑은 고딕"/>
              </a:rPr>
              <a:t>기준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7500" y="3992027"/>
            <a:ext cx="7996652" cy="211452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>
              <a:spcBef>
                <a:spcPct val="0"/>
              </a:spcBef>
              <a:spcAft>
                <a:spcPct val="0"/>
              </a:spcAft>
              <a:buSzPct val="250000"/>
              <a:tabLst>
                <a:tab pos="180975" algn="l"/>
              </a:tabLst>
              <a:defRPr/>
            </a:pPr>
            <a:r>
              <a:rPr lang="ko-KR" altLang="en-US" sz="1200" b="1" spc="-50">
                <a:gradFill>
                  <a:gsLst>
                    <a:gs pos="42080">
                      <a:prstClr val="black">
                        <a:lumMod val="75000"/>
                        <a:lumOff val="25000"/>
                      </a:prstClr>
                    </a:gs>
                    <a:gs pos="21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맑은 고딕"/>
                <a:ea typeface="맑은 고딕"/>
              </a:rPr>
              <a:t>구독 라이센스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C0582-03F3-F64A-B5E4-4550921C81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7EC2F98-A7F8-B253-AB04-579ECBD7ECF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ko-KR" b="1" dirty="0"/>
              <a:t>01</a:t>
            </a:r>
            <a:endParaRPr lang="ko-KR" altLang="en-US" b="1" dirty="0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3D2BBCE-D34B-6404-0AD0-F511B24C0CBE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ko-KR" b="1" dirty="0"/>
              <a:t>SR </a:t>
            </a:r>
            <a:r>
              <a:rPr lang="ko-KR" altLang="en-US" b="1" dirty="0"/>
              <a:t>진행현황 요약 </a:t>
            </a:r>
            <a:r>
              <a:rPr lang="en-US" altLang="ko-KR" b="1" dirty="0"/>
              <a:t>(1/1) </a:t>
            </a:r>
            <a:endParaRPr lang="ko-KR" altLang="en-US" b="1" dirty="0"/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2E6AB92-60EC-1DDA-9081-14B365268A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17125315"/>
              </p:ext>
            </p:extLst>
          </p:nvPr>
        </p:nvGraphicFramePr>
        <p:xfrm>
          <a:off x="560389" y="1629068"/>
          <a:ext cx="8829333" cy="4429955"/>
        </p:xfrm>
        <a:graphic>
          <a:graphicData uri="http://schemas.openxmlformats.org/drawingml/2006/table">
            <a:tbl>
              <a:tblPr/>
              <a:tblGrid>
                <a:gridCol w="572911">
                  <a:extLst>
                    <a:ext uri="{9D8B030D-6E8A-4147-A177-3AD203B41FA5}">
                      <a16:colId xmlns:a16="http://schemas.microsoft.com/office/drawing/2014/main" val="1356310942"/>
                    </a:ext>
                  </a:extLst>
                </a:gridCol>
                <a:gridCol w="6516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586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406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5900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5590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749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55784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gradFill>
                            <a:gsLst>
                              <a:gs pos="47917">
                                <a:schemeClr val="bg1"/>
                              </a:gs>
                              <a:gs pos="35833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플랫폼</a:t>
                      </a:r>
                      <a:endParaRPr kumimoji="0" lang="en-US" sz="900" b="1" i="0" u="none" strike="noStrike" kern="1200" cap="none" spc="-50" normalizeH="0" baseline="0" dirty="0">
                        <a:ln>
                          <a:noFill/>
                        </a:ln>
                        <a:gradFill>
                          <a:gsLst>
                            <a:gs pos="47917">
                              <a:schemeClr val="bg1"/>
                            </a:gs>
                            <a:gs pos="35833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gradFill>
                            <a:gsLst>
                              <a:gs pos="47917">
                                <a:schemeClr val="bg1"/>
                              </a:gs>
                              <a:gs pos="35833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제품</a:t>
                      </a:r>
                      <a:endParaRPr kumimoji="0" lang="en-US" sz="900" b="1" i="0" u="none" strike="noStrike" kern="1200" cap="none" spc="-50" normalizeH="0" baseline="0" dirty="0">
                        <a:ln>
                          <a:noFill/>
                        </a:ln>
                        <a:gradFill>
                          <a:gsLst>
                            <a:gs pos="47917">
                              <a:schemeClr val="bg1"/>
                            </a:gs>
                            <a:gs pos="35833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gradFill>
                            <a:gsLst>
                              <a:gs pos="47917">
                                <a:schemeClr val="bg1"/>
                              </a:gs>
                              <a:gs pos="35833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 No.</a:t>
                      </a:r>
                      <a:endParaRPr kumimoji="0" lang="ko-KR" altLang="en-US" sz="900" b="1" i="0" u="none" strike="noStrike" kern="1200" cap="none" spc="-50" normalizeH="0" baseline="0" dirty="0">
                        <a:ln>
                          <a:noFill/>
                        </a:ln>
                        <a:gradFill>
                          <a:gsLst>
                            <a:gs pos="47917">
                              <a:schemeClr val="bg1"/>
                            </a:gs>
                            <a:gs pos="35833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gradFill>
                            <a:gsLst>
                              <a:gs pos="47917">
                                <a:schemeClr val="bg1"/>
                              </a:gs>
                              <a:gs pos="35833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발생일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900" b="1" i="0" u="none" strike="noStrike" kern="1200" cap="none" spc="-50" normalizeH="0" baseline="0" dirty="0">
                          <a:ln>
                            <a:noFill/>
                          </a:ln>
                          <a:gradFill>
                            <a:gsLst>
                              <a:gs pos="47917">
                                <a:schemeClr val="bg1"/>
                              </a:gs>
                              <a:gs pos="35833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SR </a:t>
                      </a: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gradFill>
                            <a:gsLst>
                              <a:gs pos="47917">
                                <a:schemeClr val="bg1"/>
                              </a:gs>
                              <a:gs pos="35833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내용</a:t>
                      </a:r>
                      <a:endParaRPr kumimoji="0" lang="en-US" sz="900" b="1" i="0" u="none" strike="noStrike" kern="1200" cap="none" spc="-50" normalizeH="0" baseline="0" dirty="0">
                        <a:ln>
                          <a:noFill/>
                        </a:ln>
                        <a:gradFill>
                          <a:gsLst>
                            <a:gs pos="47917">
                              <a:schemeClr val="bg1"/>
                            </a:gs>
                            <a:gs pos="35833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gradFill>
                            <a:gsLst>
                              <a:gs pos="47917">
                                <a:schemeClr val="bg1"/>
                              </a:gs>
                              <a:gs pos="35833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진행 현황</a:t>
                      </a:r>
                      <a:endParaRPr kumimoji="0" lang="en-US" sz="900" b="1" i="0" u="none" strike="noStrike" kern="1200" cap="none" spc="-50" normalizeH="0" baseline="0" dirty="0">
                        <a:ln>
                          <a:noFill/>
                        </a:ln>
                        <a:gradFill>
                          <a:gsLst>
                            <a:gs pos="47917">
                              <a:schemeClr val="bg1"/>
                            </a:gs>
                            <a:gs pos="35833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gradFill>
                            <a:gsLst>
                              <a:gs pos="47917">
                                <a:schemeClr val="bg1"/>
                              </a:gs>
                              <a:gs pos="35833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완료</a:t>
                      </a:r>
                      <a:br>
                        <a:rPr kumimoji="0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gradFill>
                            <a:gsLst>
                              <a:gs pos="47917">
                                <a:schemeClr val="bg1"/>
                              </a:gs>
                              <a:gs pos="35833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</a:b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noFill/>
                          </a:ln>
                          <a:gradFill>
                            <a:gsLst>
                              <a:gs pos="47917">
                                <a:schemeClr val="bg1"/>
                              </a:gs>
                              <a:gs pos="35833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여부</a:t>
                      </a:r>
                      <a:endParaRPr kumimoji="0" lang="en-US" sz="900" b="1" i="0" u="none" strike="noStrike" kern="1200" cap="none" spc="-50" normalizeH="0" baseline="0" dirty="0">
                        <a:ln>
                          <a:noFill/>
                        </a:ln>
                        <a:gradFill>
                          <a:gsLst>
                            <a:gs pos="47917">
                              <a:schemeClr val="bg1"/>
                            </a:gs>
                            <a:gs pos="35833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8625"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>
                            <a:noFill/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PaaS</a:t>
                      </a: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rowSpan="6"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algn="ctr"/>
                      <a:r>
                        <a:rPr kumimoji="0" lang="en-US" altLang="ko-KR" sz="900" b="1" i="0" u="none" strike="noStrike" kern="1200" cap="none" spc="-50" normalizeH="0" baseline="0" noProof="0" dirty="0">
                          <a:ln>
                            <a:noFill/>
                          </a:ln>
                          <a:solidFill>
                            <a:prstClr val="black">
                              <a:lumMod val="75000"/>
                              <a:lumOff val="25000"/>
                            </a:prstClr>
                          </a:solidFill>
                          <a:effectLst/>
                          <a:uLnTx/>
                          <a:uFillTx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TAS</a:t>
                      </a:r>
                      <a:endParaRPr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37027473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2026-08-02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900" b="0" dirty="0"/>
                        <a:t>TAS 업그레이드 이후 </a:t>
                      </a:r>
                      <a:r>
                        <a:rPr lang="ko-KR" altLang="ko-KR" sz="900" b="0" dirty="0" err="1"/>
                        <a:t>Diego</a:t>
                      </a:r>
                      <a:r>
                        <a:rPr lang="ko-KR" altLang="ko-KR" sz="900" b="0" dirty="0"/>
                        <a:t> 컨테이너 간(C2C) 통신 지연 원인 분석 요청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900" dirty="0" err="1"/>
                        <a:t>체크섬</a:t>
                      </a:r>
                      <a:r>
                        <a:rPr lang="ko-KR" altLang="ko-KR" sz="900" dirty="0"/>
                        <a:t> 오프로딩 설정 미반영이 원인임을 확인하고 임시 조치 적용으로 지연을 해소하여 고객사에 전달 완료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10033785"/>
                  </a:ext>
                </a:extLst>
              </a:tr>
              <a:tr h="57862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37040435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2026-08-10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900" b="0" dirty="0" err="1"/>
                        <a:t>Ops</a:t>
                      </a:r>
                      <a:r>
                        <a:rPr lang="ko-KR" altLang="ko-KR" sz="900" b="0" dirty="0"/>
                        <a:t> </a:t>
                      </a:r>
                      <a:r>
                        <a:rPr lang="ko-KR" altLang="ko-KR" sz="900" b="0" dirty="0" err="1"/>
                        <a:t>Manager</a:t>
                      </a:r>
                      <a:r>
                        <a:rPr lang="ko-KR" altLang="ko-KR" sz="900" b="0" dirty="0"/>
                        <a:t> 인증서 만료 경고 알림 발생 원인 확인 요청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900" b="0" dirty="0"/>
                        <a:t>경고 알림의 원인이 </a:t>
                      </a:r>
                      <a:r>
                        <a:rPr lang="ko-KR" altLang="ko-KR" sz="900" b="0" dirty="0" err="1"/>
                        <a:t>미삭제된</a:t>
                      </a:r>
                      <a:r>
                        <a:rPr lang="ko-KR" altLang="ko-KR" sz="900" b="0" dirty="0"/>
                        <a:t> 기존 CA 인증서임을 확인하고 삭제 절차를 안내하여 고객사에 전달 완료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862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37066647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2026-08-27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TAS Upgrade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중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Spring Cloud Gateway (SCG) Crash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기존 로그에서 원인을 확인 할 수 없어 동일한 증상 발생 시 새로운 케이스 오픈 하기로 하며 기존 케이스 종료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동일한 증상 재현되어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case 37074168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오픈 하여 진행 중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862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37066669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2026-08-27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High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memory usage after upgrade TAS to 10.4.2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syslog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서버 연결 문제를 해결한 후 정상화되어 케이스 조치 완료 및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SR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종료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4413088"/>
                  </a:ext>
                </a:extLst>
              </a:tr>
              <a:tr h="57862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37067926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2026-08-27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Isolation </a:t>
                      </a:r>
                      <a:r>
                        <a:rPr lang="en-US" altLang="ko-KR" sz="900" baseline="0" dirty="0" err="1">
                          <a:latin typeface="+mn-ea"/>
                          <a:ea typeface="+mn-ea"/>
                        </a:rPr>
                        <a:t>Segement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Apply Change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중 </a:t>
                      </a:r>
                      <a:r>
                        <a:rPr lang="en-US" altLang="ko-KR" sz="900" baseline="0" dirty="0" err="1">
                          <a:latin typeface="+mn-ea"/>
                          <a:ea typeface="+mn-ea"/>
                        </a:rPr>
                        <a:t>Gorouter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update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가 지연된 원인 분석 요청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Gorouter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update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지연된 원인은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active connection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이 많아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drain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작업 소요 시간 증대가 주요 원인이며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active connection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확인 방법 전달 후 케이스 종료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12933585"/>
                  </a:ext>
                </a:extLst>
              </a:tr>
              <a:tr h="578625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ko-KR" sz="900" b="1" i="0" u="none" strike="noStrike" kern="1200" cap="none" spc="-50" normalizeH="0" baseline="0" dirty="0">
                        <a:ln>
                          <a:noFill/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/>
                      <a:endParaRPr dirty="0"/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37068075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2026-08-27</a:t>
                      </a:r>
                      <a:endParaRPr kumimoji="0" lang="en-US" altLang="ko-KR" sz="900" b="0" i="0" u="none" strike="noStrike" kern="1200" cap="none" spc="-50" normalizeH="0" baseline="0" dirty="0">
                        <a:ln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Compilation VM 2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대가 삭제되지 않고 계속 잔류하는 현상 분석 요청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SR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엔지니어의 권고 사항대로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누락되었던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Stemcell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1.866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을 재 업로드 했으며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cf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delete-service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명령어를 실행하여 잔류하던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Compilation VM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과 함께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GemFire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서비스 인스턴스를 삭제 완료 함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ln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7651884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A86BDE75-41FA-D893-367E-F51986D6B926}"/>
              </a:ext>
            </a:extLst>
          </p:cNvPr>
          <p:cNvSpPr txBox="1"/>
          <p:nvPr/>
        </p:nvSpPr>
        <p:spPr>
          <a:xfrm>
            <a:off x="8521100" y="1412721"/>
            <a:ext cx="824512" cy="211203"/>
          </a:xfrm>
          <a:prstGeom prst="rect">
            <a:avLst/>
          </a:prstGeom>
        </p:spPr>
        <p:txBody>
          <a:bodyPr wrap="none" lIns="36000" tIns="36000" rIns="36000" bIns="36000" rtlCol="0" anchor="ctr" anchorCtr="0">
            <a:spAutoFit/>
          </a:bodyPr>
          <a:lstStyle>
            <a:defPPr>
              <a:defRPr lang="ko-KR"/>
            </a:defPPr>
            <a:lvl1pPr>
              <a:spcBef>
                <a:spcPts val="400"/>
              </a:spcBef>
              <a:defRPr sz="1000" spc="-20">
                <a:gradFill>
                  <a:gsLst>
                    <a:gs pos="74583">
                      <a:schemeClr val="tx1">
                        <a:lumMod val="65000"/>
                        <a:lumOff val="35000"/>
                      </a:schemeClr>
                    </a:gs>
                    <a:gs pos="6375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L" panose="02020603020101020101" pitchFamily="18" charset="-127"/>
                <a:ea typeface="Rix고딕 L" panose="02020603020101020101" pitchFamily="18" charset="-127"/>
              </a:defRPr>
            </a:lvl1pPr>
          </a:lstStyle>
          <a:p>
            <a:pPr algn="r">
              <a:defRPr/>
            </a:pPr>
            <a:r>
              <a:rPr lang="en-US" altLang="ko-KR" sz="90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2026.08.31 </a:t>
            </a:r>
            <a:r>
              <a:rPr lang="ko-KR" altLang="en-US" sz="900" spc="-50" dirty="0">
                <a:solidFill>
                  <a:prstClr val="black">
                    <a:lumMod val="75000"/>
                    <a:lumOff val="25000"/>
                  </a:prstClr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기준</a:t>
            </a:r>
          </a:p>
        </p:txBody>
      </p:sp>
    </p:spTree>
    <p:extLst>
      <p:ext uri="{BB962C8B-B14F-4D97-AF65-F5344CB8AC3E}">
        <p14:creationId xmlns:p14="http://schemas.microsoft.com/office/powerpoint/2010/main" val="193791899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2-2</a:t>
            </a:r>
            <a:endParaRPr lang="ko-KR" altLang="en-US" b="1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en-US" altLang="ko-KR" b="1" dirty="0"/>
              <a:t>SR </a:t>
            </a:r>
            <a:r>
              <a:rPr lang="ko-KR" altLang="en-US" b="1" dirty="0"/>
              <a:t>상세 진행 현황 </a:t>
            </a:r>
            <a:r>
              <a:rPr lang="en-US" altLang="ko-KR" b="1" dirty="0"/>
              <a:t>&gt; PaaS</a:t>
            </a:r>
            <a:r>
              <a:rPr lang="ko-KR" altLang="en-US" b="1" dirty="0"/>
              <a:t> </a:t>
            </a:r>
            <a:r>
              <a:rPr lang="en-US" altLang="ko-KR" b="1" dirty="0"/>
              <a:t>(1/6)</a:t>
            </a:r>
          </a:p>
        </p:txBody>
      </p:sp>
      <p:grpSp>
        <p:nvGrpSpPr>
          <p:cNvPr id="5" name="그룹 5"/>
          <p:cNvGrpSpPr/>
          <p:nvPr/>
        </p:nvGrpSpPr>
        <p:grpSpPr>
          <a:xfrm>
            <a:off x="560388" y="1404280"/>
            <a:ext cx="8283954" cy="211452"/>
            <a:chOff x="983148" y="1520472"/>
            <a:chExt cx="8283954" cy="211452"/>
          </a:xfrm>
        </p:grpSpPr>
        <p:sp>
          <p:nvSpPr>
            <p:cNvPr id="6" name="TextBox 5"/>
            <p:cNvSpPr txBox="1"/>
            <p:nvPr/>
          </p:nvSpPr>
          <p:spPr>
            <a:xfrm>
              <a:off x="1270260" y="1520472"/>
              <a:ext cx="7996842" cy="2114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  <a:buSzPct val="250000"/>
                <a:tabLst>
                  <a:tab pos="180975" algn="l"/>
                </a:tabLst>
                <a:defRPr/>
              </a:pPr>
              <a:r>
                <a:rPr lang="en-US" altLang="ko-KR" sz="1200" b="1" spc="-50">
                  <a:gradFill>
                    <a:gsLst>
                      <a:gs pos="42080">
                        <a:prstClr val="black">
                          <a:lumMod val="75000"/>
                          <a:lumOff val="25000"/>
                        </a:prstClr>
                      </a:gs>
                      <a:gs pos="21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맑은 고딕"/>
                  <a:ea typeface="맑은 고딕"/>
                </a:rPr>
                <a:t>PaaS</a:t>
              </a:r>
              <a:endParaRPr lang="ko-KR" altLang="en-US" sz="1200" b="1" spc="-50">
                <a:gradFill>
                  <a:gsLst>
                    <a:gs pos="42080">
                      <a:prstClr val="black">
                        <a:lumMod val="75000"/>
                        <a:lumOff val="25000"/>
                      </a:prstClr>
                    </a:gs>
                    <a:gs pos="21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맑은 고딕"/>
                <a:ea typeface="맑은 고딕"/>
              </a:endParaRPr>
            </a:p>
          </p:txBody>
        </p:sp>
        <p:pic>
          <p:nvPicPr>
            <p:cNvPr id="7" name="그림 7"/>
            <p:cNvPicPr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83148" y="1528998"/>
              <a:ext cx="194400" cy="194400"/>
            </a:xfrm>
            <a:prstGeom prst="rect">
              <a:avLst/>
            </a:prstGeom>
          </p:spPr>
        </p:pic>
      </p:grpSp>
      <p:graphicFrame>
        <p:nvGraphicFramePr>
          <p:cNvPr id="8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5877627"/>
              </p:ext>
            </p:extLst>
          </p:nvPr>
        </p:nvGraphicFramePr>
        <p:xfrm>
          <a:off x="560385" y="1630604"/>
          <a:ext cx="8785421" cy="4546077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7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제품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Tanzu Application Service</a:t>
                      </a:r>
                      <a:endParaRPr kumimoji="0" lang="en-US" sz="900" b="1" i="0" u="none" strike="noStrike" kern="1200" cap="none" spc="-50" normalizeH="0" baseline="0" dirty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SR No.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고딕"/>
                          <a:ea typeface="맑은 고딕"/>
                          <a:cs typeface="+mn-cs"/>
                        </a:rPr>
                        <a:t>37027473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심각도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(Severity)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고딕"/>
                          <a:ea typeface="맑은 고딕"/>
                          <a:cs typeface="+mn-cs"/>
                        </a:rPr>
                        <a:t>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발생 일자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2026-08-02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종료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보관 일자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2026-08-10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진행 상태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rgbClr val="404040"/>
                          </a:solidFill>
                          <a:latin typeface="맑은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SR </a:t>
                      </a: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제목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ko-KR" sz="900" dirty="0"/>
                        <a:t>TAS 업그레이드 이후 </a:t>
                      </a:r>
                      <a:r>
                        <a:rPr lang="ko-KR" altLang="ko-KR" sz="900" dirty="0" err="1"/>
                        <a:t>Diego</a:t>
                      </a:r>
                      <a:r>
                        <a:rPr lang="ko-KR" altLang="ko-KR" sz="900" dirty="0"/>
                        <a:t> 컨테이너 간(C2C) 통신 지연 원인 분석 요청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증상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ko-KR" sz="900" dirty="0"/>
                        <a:t>TAS 업그레이드 이후 </a:t>
                      </a:r>
                      <a:r>
                        <a:rPr lang="ko-KR" altLang="ko-KR" sz="900" dirty="0" err="1"/>
                        <a:t>Diego</a:t>
                      </a:r>
                      <a:r>
                        <a:rPr lang="ko-KR" altLang="ko-KR" sz="900" dirty="0"/>
                        <a:t> 컨테이너 간(C2C) 통신 지연 원인 분석 요청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8787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분석 및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진행 상황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질의 내용</a:t>
                      </a:r>
                      <a:endParaRPr lang="ko-KR" altLang="en-US" sz="900" b="0" spc="-50" noProof="0" dirty="0">
                        <a:latin typeface="맑은 고딕"/>
                        <a:ea typeface="맑은 고딕"/>
                      </a:endParaRPr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 err="1"/>
                        <a:t>Ops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Manager</a:t>
                      </a:r>
                      <a:r>
                        <a:rPr lang="ko-KR" altLang="ko-KR" sz="900" dirty="0"/>
                        <a:t> 3.3.3 및 TAS 10.4.2 업그레이드 직후부터 컨테이너 간(C2C) 통신 구간에서 </a:t>
                      </a:r>
                      <a:r>
                        <a:rPr lang="ko-KR" altLang="ko-KR" sz="900" dirty="0" err="1"/>
                        <a:t>간헐적·지속적</a:t>
                      </a:r>
                      <a:r>
                        <a:rPr lang="ko-KR" altLang="ko-KR" sz="900" dirty="0"/>
                        <a:t> 지연 발생</a:t>
                      </a:r>
                      <a:endParaRPr lang="en-US" altLang="ko-KR" sz="900" dirty="0"/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/>
                        <a:t>해당 릴리스에서 추가된 C2C 컨테이너 네트워킹 컴포넌트 관련 </a:t>
                      </a:r>
                      <a:r>
                        <a:rPr lang="ko-KR" altLang="ko-KR" sz="900" dirty="0" err="1"/>
                        <a:t>Known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Issue</a:t>
                      </a:r>
                      <a:r>
                        <a:rPr lang="ko-KR" altLang="ko-KR" sz="900" dirty="0"/>
                        <a:t> 및 </a:t>
                      </a:r>
                      <a:r>
                        <a:rPr lang="ko-KR" altLang="ko-KR" sz="900" dirty="0" err="1"/>
                        <a:t>Breaking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Change</a:t>
                      </a:r>
                      <a:r>
                        <a:rPr lang="ko-KR" altLang="ko-KR" sz="900" dirty="0"/>
                        <a:t> 확인</a:t>
                      </a:r>
                      <a:endParaRPr lang="en-US" altLang="ko-KR" sz="900" dirty="0"/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/>
                        <a:t>병목 구간 식별 및 C2C 통신 정상 상태 검증을 위해 추가로 </a:t>
                      </a:r>
                      <a:r>
                        <a:rPr lang="ko-KR" altLang="ko-KR" sz="900" dirty="0" err="1"/>
                        <a:t>점검·수집해야</a:t>
                      </a:r>
                      <a:r>
                        <a:rPr lang="ko-KR" altLang="ko-KR" sz="900" dirty="0"/>
                        <a:t> 할 항목, </a:t>
                      </a:r>
                      <a:r>
                        <a:rPr lang="ko-KR" altLang="ko-KR" sz="900" dirty="0" err="1"/>
                        <a:t>메트릭</a:t>
                      </a:r>
                      <a:r>
                        <a:rPr lang="ko-KR" altLang="ko-KR" sz="900" dirty="0"/>
                        <a:t>, 로그 범위 안내 요청</a:t>
                      </a:r>
                      <a:endParaRPr lang="ko-KR" altLang="en-US" sz="900" b="0" spc="-50" noProof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진행 상황</a:t>
                      </a:r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/>
                        <a:t>현상 파악: NSX-T 기반 환경에서 TCP </a:t>
                      </a:r>
                      <a:r>
                        <a:rPr lang="ko-KR" altLang="ko-KR" sz="900" dirty="0" err="1"/>
                        <a:t>체크섬</a:t>
                      </a:r>
                      <a:r>
                        <a:rPr lang="ko-KR" altLang="ko-KR" sz="900" dirty="0"/>
                        <a:t> 오류로 컨테이너 간 VXLAN 통신 패킷이 </a:t>
                      </a:r>
                      <a:r>
                        <a:rPr lang="ko-KR" altLang="ko-KR" sz="900" dirty="0" err="1"/>
                        <a:t>드롭되는</a:t>
                      </a:r>
                      <a:r>
                        <a:rPr lang="ko-KR" altLang="ko-KR" sz="900" dirty="0"/>
                        <a:t> 기존 알려진 이슈에 해당함을 </a:t>
                      </a:r>
                      <a:r>
                        <a:rPr lang="ko-KR" altLang="ko-KR" sz="900" dirty="0" err="1"/>
                        <a:t>안내받고</a:t>
                      </a:r>
                      <a:r>
                        <a:rPr lang="ko-KR" altLang="ko-KR" sz="900" dirty="0"/>
                        <a:t>, 관련 문서와 함께 로그 및 패킷 캡처 수집 범위를 </a:t>
                      </a:r>
                      <a:r>
                        <a:rPr lang="ko-KR" altLang="ko-KR" sz="900" dirty="0" err="1"/>
                        <a:t>안내받음</a:t>
                      </a:r>
                      <a:endParaRPr lang="en-US" altLang="ko-KR" sz="900" dirty="0"/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/>
                        <a:t>로그 분석: 고객사가 동일 증상이 발생하는 두 개 환경의 지원 번들과 패킷 캡처를 제출, 분석 결과 TCP 연결 수립 시 최초 SYN 패킷이 </a:t>
                      </a:r>
                      <a:r>
                        <a:rPr lang="ko-KR" altLang="ko-KR" sz="900" dirty="0" err="1"/>
                        <a:t>드롭되어</a:t>
                      </a:r>
                      <a:r>
                        <a:rPr lang="ko-KR" altLang="ko-KR" sz="900" dirty="0"/>
                        <a:t> 재전송에 의존하며 약 1초 수준의 지연이 반복되는 패턴 확인</a:t>
                      </a:r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/>
                        <a:t>근본 원인 규명: 타일에서 </a:t>
                      </a:r>
                      <a:r>
                        <a:rPr lang="ko-KR" altLang="ko-KR" sz="900" dirty="0" err="1"/>
                        <a:t>Diego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Cell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체크섬</a:t>
                      </a:r>
                      <a:r>
                        <a:rPr lang="ko-KR" altLang="ko-KR" sz="900" dirty="0"/>
                        <a:t> 오프로딩 비활성화 옵션을 적용해도 VXLAN 터널 종단 인터페이스에는 반영되지 않아 오프로딩이 활성 상태로 유지되는 것이 원인으로 파악됨</a:t>
                      </a:r>
                      <a:endParaRPr lang="en-US" altLang="ko-KR" sz="900" dirty="0"/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/>
                        <a:t>TAC 권고사항: 터널 종단 인터페이스에 </a:t>
                      </a:r>
                      <a:r>
                        <a:rPr lang="ko-KR" altLang="ko-KR" sz="900" dirty="0" err="1"/>
                        <a:t>체크섬</a:t>
                      </a:r>
                      <a:r>
                        <a:rPr lang="ko-KR" altLang="ko-KR" sz="900" dirty="0"/>
                        <a:t> 오프로딩을 직접 비활성화하는 임시 조치를 </a:t>
                      </a:r>
                      <a:r>
                        <a:rPr lang="ko-KR" altLang="ko-KR" sz="900" dirty="0" err="1"/>
                        <a:t>안내받아</a:t>
                      </a:r>
                      <a:r>
                        <a:rPr lang="ko-KR" altLang="ko-KR" sz="900" dirty="0"/>
                        <a:t> 적용, 이후 C2C 통신 지연 해소 확인</a:t>
                      </a:r>
                      <a:endParaRPr lang="en-US" altLang="ko-KR" sz="900" dirty="0"/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/>
                        <a:t>엔지니어링 대응 확인: 영구 조치를 위한 코드 레벨 수정이 완료되어 향후 TAS 릴리스에 포함될 예정임을 </a:t>
                      </a:r>
                      <a:r>
                        <a:rPr lang="ko-KR" altLang="ko-KR" sz="900" dirty="0" err="1"/>
                        <a:t>안내받음</a:t>
                      </a:r>
                      <a:endParaRPr lang="ko-KR" altLang="ko-KR" sz="900" dirty="0"/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/>
                        <a:t>후속 조치 방향: 정식 수정 반영 릴리스 적용 전까지 임시 조치를 유지하고, 릴리스 노트를 통해 반영 여부 확인 필요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최종 결과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ko-KR" altLang="ko-KR" sz="900" dirty="0" err="1"/>
                        <a:t>체크섬</a:t>
                      </a:r>
                      <a:r>
                        <a:rPr lang="ko-KR" altLang="ko-KR" sz="900" dirty="0"/>
                        <a:t> 오프로딩 설정 미반영이 원인임을 확인하고 임시 조치 적용으로 지연을 해소하여 고객사에 전달 완료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8521100" y="1412720"/>
            <a:ext cx="824512" cy="211203"/>
          </a:xfrm>
          <a:prstGeom prst="rect">
            <a:avLst/>
          </a:prstGeom>
        </p:spPr>
        <p:txBody>
          <a:bodyPr wrap="none" lIns="36000" tIns="36000" rIns="36000" bIns="36000" anchor="ctr" anchorCtr="0">
            <a:spAutoFit/>
          </a:bodyPr>
          <a:lstStyle>
            <a:defPPr>
              <a:defRPr lang="ko-KR"/>
            </a:defPPr>
            <a:lvl1pPr>
              <a:spcBef>
                <a:spcPts val="400"/>
              </a:spcBef>
              <a:defRPr sz="1000" spc="-20">
                <a:gradFill>
                  <a:gsLst>
                    <a:gs pos="74580">
                      <a:schemeClr val="tx1">
                        <a:lumMod val="65000"/>
                        <a:lumOff val="35000"/>
                      </a:schemeClr>
                    </a:gs>
                    <a:gs pos="6375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L"/>
                <a:ea typeface="Rix고딕 L"/>
              </a:defRPr>
            </a:lvl1pPr>
          </a:lstStyle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2026.08.31 </a:t>
            </a:r>
            <a:r>
              <a:rPr kumimoji="0" lang="ko-KR" altLang="en-US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기준</a:t>
            </a:r>
            <a:endParaRPr kumimoji="0" lang="ko-KR" altLang="en-US" sz="900" b="0" i="0" u="none" strike="noStrike" kern="1200" cap="none" spc="-50" normalizeH="0" baseline="0" dirty="0">
              <a:solidFill>
                <a:prstClr val="black">
                  <a:lumMod val="75000"/>
                  <a:lumOff val="25000"/>
                </a:prstClr>
              </a:solidFill>
              <a:latin typeface="맑은 고딕"/>
              <a:ea typeface="맑은 고딕"/>
              <a:cs typeface="+mn-c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7121-EC23-5653-CD04-9FF06A67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236EB15-21BA-0023-5819-F6BD546C9F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2-2</a:t>
            </a:r>
            <a:endParaRPr lang="ko-KR" altLang="en-US" b="1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BE6B81-38DB-D131-188E-7BECE3475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en-US" altLang="ko-KR" b="1" dirty="0"/>
              <a:t>SR </a:t>
            </a:r>
            <a:r>
              <a:rPr lang="ko-KR" altLang="en-US" b="1" dirty="0"/>
              <a:t>상세 진행 현황 </a:t>
            </a:r>
            <a:r>
              <a:rPr lang="en-US" altLang="ko-KR" b="1" dirty="0"/>
              <a:t>&gt; PaaS</a:t>
            </a:r>
            <a:r>
              <a:rPr lang="ko-KR" altLang="en-US" b="1" dirty="0"/>
              <a:t> </a:t>
            </a:r>
            <a:r>
              <a:rPr lang="en-US" altLang="ko-KR" b="1" dirty="0"/>
              <a:t>(2/6)</a:t>
            </a:r>
          </a:p>
        </p:txBody>
      </p:sp>
      <p:grpSp>
        <p:nvGrpSpPr>
          <p:cNvPr id="5" name="그룹 5">
            <a:extLst>
              <a:ext uri="{FF2B5EF4-FFF2-40B4-BE49-F238E27FC236}">
                <a16:creationId xmlns:a16="http://schemas.microsoft.com/office/drawing/2014/main" id="{E0A1733C-9A9B-1CE6-BCE1-951DD6845469}"/>
              </a:ext>
            </a:extLst>
          </p:cNvPr>
          <p:cNvGrpSpPr/>
          <p:nvPr/>
        </p:nvGrpSpPr>
        <p:grpSpPr>
          <a:xfrm>
            <a:off x="560388" y="1404280"/>
            <a:ext cx="8283954" cy="211452"/>
            <a:chOff x="983148" y="1520472"/>
            <a:chExt cx="8283954" cy="2114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F5E71D-AACC-9782-47F2-9C5D0DB61973}"/>
                </a:ext>
              </a:extLst>
            </p:cNvPr>
            <p:cNvSpPr txBox="1"/>
            <p:nvPr/>
          </p:nvSpPr>
          <p:spPr>
            <a:xfrm>
              <a:off x="1270260" y="1520472"/>
              <a:ext cx="7996842" cy="2114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  <a:buSzPct val="250000"/>
                <a:tabLst>
                  <a:tab pos="180975" algn="l"/>
                </a:tabLst>
                <a:defRPr/>
              </a:pPr>
              <a:r>
                <a:rPr lang="en-US" altLang="ko-KR" sz="1200" b="1" spc="-50">
                  <a:gradFill>
                    <a:gsLst>
                      <a:gs pos="42080">
                        <a:prstClr val="black">
                          <a:lumMod val="75000"/>
                          <a:lumOff val="25000"/>
                        </a:prstClr>
                      </a:gs>
                      <a:gs pos="21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맑은 고딕"/>
                  <a:ea typeface="맑은 고딕"/>
                </a:rPr>
                <a:t>PaaS</a:t>
              </a:r>
              <a:endParaRPr lang="ko-KR" altLang="en-US" sz="1200" b="1" spc="-50">
                <a:gradFill>
                  <a:gsLst>
                    <a:gs pos="42080">
                      <a:prstClr val="black">
                        <a:lumMod val="75000"/>
                        <a:lumOff val="25000"/>
                      </a:prstClr>
                    </a:gs>
                    <a:gs pos="21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맑은 고딕"/>
                <a:ea typeface="맑은 고딕"/>
              </a:endParaRPr>
            </a:p>
          </p:txBody>
        </p:sp>
        <p:pic>
          <p:nvPicPr>
            <p:cNvPr id="7" name="그림 7">
              <a:extLst>
                <a:ext uri="{FF2B5EF4-FFF2-40B4-BE49-F238E27FC236}">
                  <a16:creationId xmlns:a16="http://schemas.microsoft.com/office/drawing/2014/main" id="{AAE2C213-48A5-4DC4-398A-25CA50D21654}"/>
                </a:ext>
              </a:extLst>
            </p:cNvPr>
            <p:cNvPicPr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83148" y="1528998"/>
              <a:ext cx="194400" cy="194400"/>
            </a:xfrm>
            <a:prstGeom prst="rect">
              <a:avLst/>
            </a:prstGeom>
          </p:spPr>
        </p:pic>
      </p:grpSp>
      <p:graphicFrame>
        <p:nvGraphicFramePr>
          <p:cNvPr id="8" name="표 10">
            <a:extLst>
              <a:ext uri="{FF2B5EF4-FFF2-40B4-BE49-F238E27FC236}">
                <a16:creationId xmlns:a16="http://schemas.microsoft.com/office/drawing/2014/main" id="{40593A62-569B-A3A6-C7E2-01612D983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1842035"/>
              </p:ext>
            </p:extLst>
          </p:nvPr>
        </p:nvGraphicFramePr>
        <p:xfrm>
          <a:off x="560385" y="1630604"/>
          <a:ext cx="8785421" cy="4383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7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제품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Tanzu Application Service</a:t>
                      </a:r>
                      <a:endParaRPr kumimoji="0" lang="en-US" sz="900" b="1" i="0" u="none" strike="noStrike" kern="1200" cap="none" spc="-50" normalizeH="0" baseline="0" dirty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SR No.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37040435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심각도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(Severity)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고딕"/>
                          <a:ea typeface="맑은 고딕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발생 일자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2026-08-10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종료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보관 일자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2026-08-11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진행 상태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rgbClr val="404040"/>
                          </a:solidFill>
                          <a:latin typeface="맑은고딕"/>
                          <a:ea typeface="맑은 고딕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SR </a:t>
                      </a: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제목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ko-KR" sz="900" dirty="0" err="1"/>
                        <a:t>Ops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Manager</a:t>
                      </a:r>
                      <a:r>
                        <a:rPr lang="ko-KR" altLang="ko-KR" sz="900" dirty="0"/>
                        <a:t> 인증서 만료 경고 알림 발생 원인 확인 요청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증상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ko-KR" sz="900" dirty="0" err="1"/>
                        <a:t>Ops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Manager</a:t>
                      </a:r>
                      <a:r>
                        <a:rPr lang="ko-KR" altLang="ko-KR" sz="900" dirty="0"/>
                        <a:t> 인증서 만료 경고 알림 발생 원인 확인 요청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8787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분석 및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고딕"/>
                          <a:ea typeface="맑은 고딕"/>
                          <a:cs typeface="+mn-cs"/>
                        </a:rPr>
                        <a:t>진행 상황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맑은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질의 내용</a:t>
                      </a:r>
                      <a:endParaRPr lang="ko-KR" altLang="en-US" sz="900" b="0" spc="-50" noProof="0" dirty="0">
                        <a:latin typeface="맑은 고딕"/>
                        <a:ea typeface="맑은 고딕"/>
                      </a:endParaRPr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 err="1"/>
                        <a:t>Ops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Manager</a:t>
                      </a:r>
                      <a:r>
                        <a:rPr lang="ko-KR" altLang="ko-KR" sz="900" dirty="0"/>
                        <a:t> UI 인증서 목록상 모든 인증서의 만료 잔여 기간이 75일을 초과함에도, 로그인 시 설정 불가 </a:t>
                      </a:r>
                      <a:r>
                        <a:rPr lang="ko-KR" altLang="ko-KR" sz="900" dirty="0" err="1"/>
                        <a:t>leaf</a:t>
                      </a:r>
                      <a:r>
                        <a:rPr lang="ko-KR" altLang="ko-KR" sz="900" dirty="0"/>
                        <a:t> 인증서가 75일 내 만료된다는 경고 알림 표시</a:t>
                      </a:r>
                      <a:endParaRPr lang="en-US" altLang="ko-KR" sz="900" dirty="0"/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ko-KR" altLang="ko-KR" sz="900" dirty="0"/>
                        <a:t>해당 경고가 정상 동작인지 여부 및 목록에 표시되지 않는 인증서에 대해 경고가 발생하는 원인 확인</a:t>
                      </a:r>
                      <a:endParaRPr lang="ko-KR" altLang="en-US" sz="900" b="0" spc="-50" noProof="0" dirty="0">
                        <a:solidFill>
                          <a:srgbClr val="000000"/>
                        </a:solidFill>
                        <a:latin typeface="맑은 고딕"/>
                        <a:ea typeface="맑은 고딕"/>
                      </a:endParaRPr>
                    </a:p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진행 상황</a:t>
                      </a: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ko-KR" sz="900" dirty="0"/>
                        <a:t>현상 파악: 만료 임박 인증서 조회 결과 제출을 </a:t>
                      </a:r>
                      <a:r>
                        <a:rPr lang="ko-KR" altLang="ko-KR" sz="900" dirty="0" err="1"/>
                        <a:t>요청받아</a:t>
                      </a:r>
                      <a:r>
                        <a:rPr lang="ko-KR" altLang="ko-KR" sz="900" dirty="0"/>
                        <a:t> 고객사에서 </a:t>
                      </a:r>
                      <a:r>
                        <a:rPr lang="ko-KR" altLang="ko-KR" sz="900" dirty="0" err="1"/>
                        <a:t>Ops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Manager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API로</a:t>
                      </a:r>
                      <a:r>
                        <a:rPr lang="ko-KR" altLang="ko-KR" sz="900" dirty="0"/>
                        <a:t> 인증서 목록을 조회한 결과, UI 목록에 노출되지 않던 이전 </a:t>
                      </a:r>
                      <a:r>
                        <a:rPr lang="ko-KR" altLang="ko-KR" sz="900" dirty="0" err="1"/>
                        <a:t>Root</a:t>
                      </a:r>
                      <a:r>
                        <a:rPr lang="ko-KR" altLang="ko-KR" sz="900" dirty="0"/>
                        <a:t> </a:t>
                      </a:r>
                      <a:r>
                        <a:rPr lang="ko-KR" altLang="ko-KR" sz="900" dirty="0" err="1"/>
                        <a:t>CA와</a:t>
                      </a:r>
                      <a:r>
                        <a:rPr lang="ko-KR" altLang="ko-KR" sz="900" dirty="0"/>
                        <a:t> NATS </a:t>
                      </a:r>
                      <a:r>
                        <a:rPr lang="ko-KR" altLang="ko-KR" sz="900" dirty="0" err="1"/>
                        <a:t>CA가</a:t>
                      </a:r>
                      <a:r>
                        <a:rPr lang="ko-KR" altLang="ko-KR" sz="900" dirty="0"/>
                        <a:t> 경고 발생 대상으로 확인</a:t>
                      </a:r>
                      <a:endParaRPr lang="en-US" altLang="ko-KR" sz="900" dirty="0"/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ko-KR" sz="900" dirty="0"/>
                        <a:t>근본 원인 규명: 두 인증서 모두 비활성 상태로 남아 있는 것이 확인되어, CA 및 </a:t>
                      </a:r>
                      <a:r>
                        <a:rPr lang="ko-KR" altLang="ko-KR" sz="900" dirty="0" err="1"/>
                        <a:t>leaf</a:t>
                      </a:r>
                      <a:r>
                        <a:rPr lang="ko-KR" altLang="ko-KR" sz="900" dirty="0"/>
                        <a:t> 인증서 교체 절차 중 기존 CA 삭제 단계가 누락된 것이 원인으로 파악됨</a:t>
                      </a:r>
                      <a:endParaRPr lang="en-US" altLang="ko-KR" sz="900" dirty="0"/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ko-KR" sz="900" dirty="0"/>
                        <a:t>TAC 권고사항: 교체 절차의 선행 단계가 이미 완료된 상태이므로 기존 CA 삭제 단계만 수행하면 10월 25일 만료 예정인 두 인증서가 모두 제거됨을 관련 기술 문서와 함께 </a:t>
                      </a:r>
                      <a:r>
                        <a:rPr lang="ko-KR" altLang="ko-KR" sz="900" dirty="0" err="1"/>
                        <a:t>안내받음</a:t>
                      </a:r>
                      <a:endParaRPr lang="en-US" altLang="ko-KR" sz="900" dirty="0"/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ko-KR" sz="900" dirty="0"/>
                        <a:t>후속 조치 방향: 비활성 상태로 남아 있는 기존 </a:t>
                      </a:r>
                      <a:r>
                        <a:rPr lang="ko-KR" altLang="ko-KR" sz="900" dirty="0" err="1"/>
                        <a:t>CA를</a:t>
                      </a:r>
                      <a:r>
                        <a:rPr lang="ko-KR" altLang="ko-KR" sz="900" dirty="0"/>
                        <a:t> 삭제하여 만료 경고 대상 인증서 제거 필요</a:t>
                      </a: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최종 결과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ko-KR" sz="900" dirty="0"/>
                        <a:t>경고 알림의 원인이 </a:t>
                      </a:r>
                      <a:r>
                        <a:rPr lang="ko-KR" altLang="ko-KR" sz="900" dirty="0" err="1"/>
                        <a:t>미삭제된</a:t>
                      </a:r>
                      <a:r>
                        <a:rPr lang="ko-KR" altLang="ko-KR" sz="900" dirty="0"/>
                        <a:t> 기존 CA 인증서임을 확인하고 삭제 절차를 안내하여 고객사에 전달 완료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87C0EF-CAEA-5251-865E-0DDBECB51EFC}"/>
              </a:ext>
            </a:extLst>
          </p:cNvPr>
          <p:cNvSpPr txBox="1"/>
          <p:nvPr/>
        </p:nvSpPr>
        <p:spPr>
          <a:xfrm>
            <a:off x="8521100" y="1412720"/>
            <a:ext cx="824512" cy="211203"/>
          </a:xfrm>
          <a:prstGeom prst="rect">
            <a:avLst/>
          </a:prstGeom>
        </p:spPr>
        <p:txBody>
          <a:bodyPr wrap="none" lIns="36000" tIns="36000" rIns="36000" bIns="36000" anchor="ctr" anchorCtr="0">
            <a:spAutoFit/>
          </a:bodyPr>
          <a:lstStyle>
            <a:defPPr>
              <a:defRPr lang="ko-KR"/>
            </a:defPPr>
            <a:lvl1pPr>
              <a:spcBef>
                <a:spcPts val="400"/>
              </a:spcBef>
              <a:defRPr sz="1000" spc="-20">
                <a:gradFill>
                  <a:gsLst>
                    <a:gs pos="74580">
                      <a:schemeClr val="tx1">
                        <a:lumMod val="65000"/>
                        <a:lumOff val="35000"/>
                      </a:schemeClr>
                    </a:gs>
                    <a:gs pos="6375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L"/>
                <a:ea typeface="Rix고딕 L"/>
              </a:defRPr>
            </a:lvl1pPr>
          </a:lstStyle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2026.08.31 </a:t>
            </a:r>
            <a:r>
              <a:rPr kumimoji="0" lang="ko-KR" altLang="en-US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기준</a:t>
            </a:r>
            <a:endParaRPr kumimoji="0" lang="ko-KR" altLang="en-US" sz="900" b="0" i="0" u="none" strike="noStrike" kern="1200" cap="none" spc="-50" normalizeH="0" baseline="0" dirty="0">
              <a:solidFill>
                <a:prstClr val="black">
                  <a:lumMod val="75000"/>
                  <a:lumOff val="25000"/>
                </a:prstClr>
              </a:solidFill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4588082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7121-EC23-5653-CD04-9FF06A67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236EB15-21BA-0023-5819-F6BD546C9F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2-2</a:t>
            </a:r>
            <a:endParaRPr lang="ko-KR" altLang="en-US" b="1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BE6B81-38DB-D131-188E-7BECE3475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en-US" altLang="ko-KR" b="1" dirty="0"/>
              <a:t>SR </a:t>
            </a:r>
            <a:r>
              <a:rPr lang="ko-KR" altLang="en-US" b="1" dirty="0"/>
              <a:t>상세 진행 현황 </a:t>
            </a:r>
            <a:r>
              <a:rPr lang="en-US" altLang="ko-KR" b="1" dirty="0"/>
              <a:t>&gt; PaaS</a:t>
            </a:r>
            <a:r>
              <a:rPr lang="ko-KR" altLang="en-US" b="1" dirty="0"/>
              <a:t> </a:t>
            </a:r>
            <a:r>
              <a:rPr lang="en-US" altLang="ko-KR" b="1" dirty="0"/>
              <a:t>(3/6)</a:t>
            </a:r>
          </a:p>
        </p:txBody>
      </p:sp>
      <p:grpSp>
        <p:nvGrpSpPr>
          <p:cNvPr id="5" name="그룹 5">
            <a:extLst>
              <a:ext uri="{FF2B5EF4-FFF2-40B4-BE49-F238E27FC236}">
                <a16:creationId xmlns:a16="http://schemas.microsoft.com/office/drawing/2014/main" id="{E0A1733C-9A9B-1CE6-BCE1-951DD6845469}"/>
              </a:ext>
            </a:extLst>
          </p:cNvPr>
          <p:cNvGrpSpPr/>
          <p:nvPr/>
        </p:nvGrpSpPr>
        <p:grpSpPr>
          <a:xfrm>
            <a:off x="560388" y="1404280"/>
            <a:ext cx="8283954" cy="211452"/>
            <a:chOff x="983148" y="1520472"/>
            <a:chExt cx="8283954" cy="2114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F5E71D-AACC-9782-47F2-9C5D0DB61973}"/>
                </a:ext>
              </a:extLst>
            </p:cNvPr>
            <p:cNvSpPr txBox="1"/>
            <p:nvPr/>
          </p:nvSpPr>
          <p:spPr>
            <a:xfrm>
              <a:off x="1270260" y="1520472"/>
              <a:ext cx="7996842" cy="2114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  <a:buSzPct val="250000"/>
                <a:tabLst>
                  <a:tab pos="180975" algn="l"/>
                </a:tabLst>
                <a:defRPr/>
              </a:pPr>
              <a:r>
                <a:rPr lang="en-US" altLang="ko-KR" sz="1200" b="1" spc="-50">
                  <a:gradFill>
                    <a:gsLst>
                      <a:gs pos="42080">
                        <a:prstClr val="black">
                          <a:lumMod val="75000"/>
                          <a:lumOff val="25000"/>
                        </a:prstClr>
                      </a:gs>
                      <a:gs pos="21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맑은 고딕"/>
                  <a:ea typeface="맑은 고딕"/>
                </a:rPr>
                <a:t>PaaS</a:t>
              </a:r>
              <a:endParaRPr lang="ko-KR" altLang="en-US" sz="1200" b="1" spc="-50">
                <a:gradFill>
                  <a:gsLst>
                    <a:gs pos="42080">
                      <a:prstClr val="black">
                        <a:lumMod val="75000"/>
                        <a:lumOff val="25000"/>
                      </a:prstClr>
                    </a:gs>
                    <a:gs pos="21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맑은 고딕"/>
                <a:ea typeface="맑은 고딕"/>
              </a:endParaRPr>
            </a:p>
          </p:txBody>
        </p:sp>
        <p:pic>
          <p:nvPicPr>
            <p:cNvPr id="7" name="그림 7">
              <a:extLst>
                <a:ext uri="{FF2B5EF4-FFF2-40B4-BE49-F238E27FC236}">
                  <a16:creationId xmlns:a16="http://schemas.microsoft.com/office/drawing/2014/main" id="{AAE2C213-48A5-4DC4-398A-25CA50D21654}"/>
                </a:ext>
              </a:extLst>
            </p:cNvPr>
            <p:cNvPicPr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83148" y="1528998"/>
              <a:ext cx="194400" cy="194400"/>
            </a:xfrm>
            <a:prstGeom prst="rect">
              <a:avLst/>
            </a:prstGeom>
          </p:spPr>
        </p:pic>
      </p:grpSp>
      <p:graphicFrame>
        <p:nvGraphicFramePr>
          <p:cNvPr id="8" name="표 10">
            <a:extLst>
              <a:ext uri="{FF2B5EF4-FFF2-40B4-BE49-F238E27FC236}">
                <a16:creationId xmlns:a16="http://schemas.microsoft.com/office/drawing/2014/main" id="{40593A62-569B-A3A6-C7E2-01612D983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5527114"/>
              </p:ext>
            </p:extLst>
          </p:nvPr>
        </p:nvGraphicFramePr>
        <p:xfrm>
          <a:off x="560385" y="1630604"/>
          <a:ext cx="8785421" cy="4383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7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제품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Tanzu Application Service</a:t>
                      </a:r>
                      <a:endParaRPr kumimoji="0" lang="en-US" sz="900" b="1" i="0" u="none" strike="noStrike" kern="1200" cap="none" spc="-50" normalizeH="0" baseline="0" dirty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 No.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37066647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심각도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(Severity)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발생 일자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2026-08-27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보관 일자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2026-09-03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상태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 </a:t>
                      </a: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TAS Upgrade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중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Spring Cloud Gateway (SCG) Crash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증상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TAS Upgrade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중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Spring Cloud Gateway (SCG) Crash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8787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 및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질의 내용</a:t>
                      </a:r>
                      <a:endParaRPr lang="ko-KR" altLang="en-US" sz="900" b="0" spc="-50" noProof="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TAS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업그레이드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(v10.2.3 -&gt; v10.4.2)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진행 중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Isolation Segment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환경에서 실행 중이던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Spring Cloud Gateway (SCG)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애플리케이션이 예기치 않게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크래시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(Crash)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발생</a:t>
                      </a:r>
                      <a:endParaRPr lang="ko-KR" altLang="en-US" sz="900" b="0" spc="-50" noProof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상황</a:t>
                      </a: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TAS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업그레이드 과정에서 발생한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SCG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애플리케이션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크래시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원인 분석 및 로그 점검 요청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앱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크래시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시점에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/actuator/health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헬스체크 호출 시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"503 Service Unavailable"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응답이 반환됨을 확인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.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앱이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제한 시간 내에 초기화를 완료하지 못함에 따라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Diego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 이를 비정상 상태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(unhealthy)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로 판단하여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인스턴스를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재시작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크래시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처리함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앱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초기화 및 연동된 서비스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/DB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검증 지연 등으로 인해 발생할 수 있는 헬스체크 타임아웃 관련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KB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문서 공유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최종 결과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기존 로그에서 원인을 확인 할 수 없어 동일한 증상 발생 시 새로운 케이스 오픈 하기로 하며 기존 케이스 종료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동일한 증상 재현되어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case 37074168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오픈 하여 진행 중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87C0EF-CAEA-5251-865E-0DDBECB51EFC}"/>
              </a:ext>
            </a:extLst>
          </p:cNvPr>
          <p:cNvSpPr txBox="1"/>
          <p:nvPr/>
        </p:nvSpPr>
        <p:spPr>
          <a:xfrm>
            <a:off x="8521100" y="1412720"/>
            <a:ext cx="824512" cy="211203"/>
          </a:xfrm>
          <a:prstGeom prst="rect">
            <a:avLst/>
          </a:prstGeom>
        </p:spPr>
        <p:txBody>
          <a:bodyPr wrap="none" lIns="36000" tIns="36000" rIns="36000" bIns="36000" anchor="ctr" anchorCtr="0">
            <a:spAutoFit/>
          </a:bodyPr>
          <a:lstStyle>
            <a:defPPr>
              <a:defRPr lang="ko-KR"/>
            </a:defPPr>
            <a:lvl1pPr>
              <a:spcBef>
                <a:spcPts val="400"/>
              </a:spcBef>
              <a:defRPr sz="1000" spc="-20">
                <a:gradFill>
                  <a:gsLst>
                    <a:gs pos="74580">
                      <a:schemeClr val="tx1">
                        <a:lumMod val="65000"/>
                        <a:lumOff val="35000"/>
                      </a:schemeClr>
                    </a:gs>
                    <a:gs pos="6375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L"/>
                <a:ea typeface="Rix고딕 L"/>
              </a:defRPr>
            </a:lvl1pPr>
          </a:lstStyle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2026.08.31 </a:t>
            </a:r>
            <a:r>
              <a:rPr kumimoji="0" lang="ko-KR" altLang="en-US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기준</a:t>
            </a:r>
            <a:endParaRPr kumimoji="0" lang="ko-KR" altLang="en-US" sz="900" b="0" i="0" u="none" strike="noStrike" kern="1200" cap="none" spc="-50" normalizeH="0" baseline="0" dirty="0">
              <a:solidFill>
                <a:prstClr val="black">
                  <a:lumMod val="75000"/>
                  <a:lumOff val="25000"/>
                </a:prstClr>
              </a:solidFill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1799868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7121-EC23-5653-CD04-9FF06A67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236EB15-21BA-0023-5819-F6BD546C9F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2-2</a:t>
            </a:r>
            <a:endParaRPr lang="ko-KR" altLang="en-US" b="1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BE6B81-38DB-D131-188E-7BECE3475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en-US" altLang="ko-KR" b="1" dirty="0"/>
              <a:t>SR </a:t>
            </a:r>
            <a:r>
              <a:rPr lang="ko-KR" altLang="en-US" b="1" dirty="0"/>
              <a:t>상세 진행 현황 </a:t>
            </a:r>
            <a:r>
              <a:rPr lang="en-US" altLang="ko-KR" b="1" dirty="0"/>
              <a:t>&gt; PaaS</a:t>
            </a:r>
            <a:r>
              <a:rPr lang="ko-KR" altLang="en-US" b="1" dirty="0"/>
              <a:t> </a:t>
            </a:r>
            <a:r>
              <a:rPr lang="en-US" altLang="ko-KR" b="1" dirty="0"/>
              <a:t>(4/6)</a:t>
            </a:r>
          </a:p>
        </p:txBody>
      </p:sp>
      <p:grpSp>
        <p:nvGrpSpPr>
          <p:cNvPr id="5" name="그룹 5">
            <a:extLst>
              <a:ext uri="{FF2B5EF4-FFF2-40B4-BE49-F238E27FC236}">
                <a16:creationId xmlns:a16="http://schemas.microsoft.com/office/drawing/2014/main" id="{E0A1733C-9A9B-1CE6-BCE1-951DD6845469}"/>
              </a:ext>
            </a:extLst>
          </p:cNvPr>
          <p:cNvGrpSpPr/>
          <p:nvPr/>
        </p:nvGrpSpPr>
        <p:grpSpPr>
          <a:xfrm>
            <a:off x="560388" y="1404280"/>
            <a:ext cx="8283954" cy="211452"/>
            <a:chOff x="983148" y="1520472"/>
            <a:chExt cx="8283954" cy="2114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F5E71D-AACC-9782-47F2-9C5D0DB61973}"/>
                </a:ext>
              </a:extLst>
            </p:cNvPr>
            <p:cNvSpPr txBox="1"/>
            <p:nvPr/>
          </p:nvSpPr>
          <p:spPr>
            <a:xfrm>
              <a:off x="1270260" y="1520472"/>
              <a:ext cx="7996842" cy="2114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  <a:buSzPct val="250000"/>
                <a:tabLst>
                  <a:tab pos="180975" algn="l"/>
                </a:tabLst>
                <a:defRPr/>
              </a:pPr>
              <a:r>
                <a:rPr lang="en-US" altLang="ko-KR" sz="1200" b="1" spc="-50">
                  <a:gradFill>
                    <a:gsLst>
                      <a:gs pos="42080">
                        <a:prstClr val="black">
                          <a:lumMod val="75000"/>
                          <a:lumOff val="25000"/>
                        </a:prstClr>
                      </a:gs>
                      <a:gs pos="21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맑은 고딕"/>
                  <a:ea typeface="맑은 고딕"/>
                </a:rPr>
                <a:t>PaaS</a:t>
              </a:r>
              <a:endParaRPr lang="ko-KR" altLang="en-US" sz="1200" b="1" spc="-50">
                <a:gradFill>
                  <a:gsLst>
                    <a:gs pos="42080">
                      <a:prstClr val="black">
                        <a:lumMod val="75000"/>
                        <a:lumOff val="25000"/>
                      </a:prstClr>
                    </a:gs>
                    <a:gs pos="21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맑은 고딕"/>
                <a:ea typeface="맑은 고딕"/>
              </a:endParaRPr>
            </a:p>
          </p:txBody>
        </p:sp>
        <p:pic>
          <p:nvPicPr>
            <p:cNvPr id="7" name="그림 7">
              <a:extLst>
                <a:ext uri="{FF2B5EF4-FFF2-40B4-BE49-F238E27FC236}">
                  <a16:creationId xmlns:a16="http://schemas.microsoft.com/office/drawing/2014/main" id="{AAE2C213-48A5-4DC4-398A-25CA50D21654}"/>
                </a:ext>
              </a:extLst>
            </p:cNvPr>
            <p:cNvPicPr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83148" y="1528998"/>
              <a:ext cx="194400" cy="194400"/>
            </a:xfrm>
            <a:prstGeom prst="rect">
              <a:avLst/>
            </a:prstGeom>
          </p:spPr>
        </p:pic>
      </p:grpSp>
      <p:graphicFrame>
        <p:nvGraphicFramePr>
          <p:cNvPr id="8" name="표 10">
            <a:extLst>
              <a:ext uri="{FF2B5EF4-FFF2-40B4-BE49-F238E27FC236}">
                <a16:creationId xmlns:a16="http://schemas.microsoft.com/office/drawing/2014/main" id="{40593A62-569B-A3A6-C7E2-01612D983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98766541"/>
              </p:ext>
            </p:extLst>
          </p:nvPr>
        </p:nvGraphicFramePr>
        <p:xfrm>
          <a:off x="560385" y="1630604"/>
          <a:ext cx="8785421" cy="4383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7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제품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Tanzu Application Service</a:t>
                      </a:r>
                      <a:endParaRPr kumimoji="0" lang="en-US" sz="900" b="1" i="0" u="none" strike="noStrike" kern="1200" cap="none" spc="-50" normalizeH="0" baseline="0" dirty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 No.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37066669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심각도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(Severity)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발생 일자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2026-08-27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보관 일자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2026-09-01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상태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 </a:t>
                      </a: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High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memory usage after upgrade TAS to 10.4.2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증상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High memory usage after upgrade TAS to 10.4.2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8787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 및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질의 내용</a:t>
                      </a:r>
                      <a:endParaRPr lang="ko-KR" altLang="en-US" sz="900" b="0" spc="-50" noProof="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TAS 10.4.2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업그레이드 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Diego Database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및 관련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VM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의 메모리 사용량 증가 원인 분석 요청</a:t>
                      </a:r>
                      <a:endParaRPr lang="ko-KR" altLang="en-US" sz="900" b="0" spc="-50" noProof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상황</a:t>
                      </a: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고객 측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top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명령어 출력 결과 분석 결과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rsyslogd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프로세스가 메모리의 약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25.3% (247.6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MiB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를 점유하는 상위 소비자로 확인됨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syslog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로그 점검 결과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rsyslogd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 외부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syslog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서버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(16.72.128.50:1514)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로의 연결 실패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(Connection refused)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를 모든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VM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에서 지속해서 발생시키는 것을 확인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rsyslog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syslog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서버 연결 불가로 인해 로컬 로그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백로그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(backlog)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를 누적하면서 메모리 사용량이 증가한 것으로 진단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최종 결과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syslog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서버 연결 문제를 해결한 후 정상화되어 케이스 조치 완료 및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SR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종료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87C0EF-CAEA-5251-865E-0DDBECB51EFC}"/>
              </a:ext>
            </a:extLst>
          </p:cNvPr>
          <p:cNvSpPr txBox="1"/>
          <p:nvPr/>
        </p:nvSpPr>
        <p:spPr>
          <a:xfrm>
            <a:off x="8521100" y="1412720"/>
            <a:ext cx="824512" cy="211203"/>
          </a:xfrm>
          <a:prstGeom prst="rect">
            <a:avLst/>
          </a:prstGeom>
        </p:spPr>
        <p:txBody>
          <a:bodyPr wrap="none" lIns="36000" tIns="36000" rIns="36000" bIns="36000" anchor="ctr" anchorCtr="0">
            <a:spAutoFit/>
          </a:bodyPr>
          <a:lstStyle>
            <a:defPPr>
              <a:defRPr lang="ko-KR"/>
            </a:defPPr>
            <a:lvl1pPr>
              <a:spcBef>
                <a:spcPts val="400"/>
              </a:spcBef>
              <a:defRPr sz="1000" spc="-20">
                <a:gradFill>
                  <a:gsLst>
                    <a:gs pos="74580">
                      <a:schemeClr val="tx1">
                        <a:lumMod val="65000"/>
                        <a:lumOff val="35000"/>
                      </a:schemeClr>
                    </a:gs>
                    <a:gs pos="6375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L"/>
                <a:ea typeface="Rix고딕 L"/>
              </a:defRPr>
            </a:lvl1pPr>
          </a:lstStyle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2026.08.31 </a:t>
            </a:r>
            <a:r>
              <a:rPr kumimoji="0" lang="ko-KR" altLang="en-US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기준</a:t>
            </a:r>
            <a:endParaRPr kumimoji="0" lang="ko-KR" altLang="en-US" sz="900" b="0" i="0" u="none" strike="noStrike" kern="1200" cap="none" spc="-50" normalizeH="0" baseline="0" dirty="0">
              <a:solidFill>
                <a:prstClr val="black">
                  <a:lumMod val="75000"/>
                  <a:lumOff val="25000"/>
                </a:prstClr>
              </a:solidFill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2950684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7121-EC23-5653-CD04-9FF06A67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236EB15-21BA-0023-5819-F6BD546C9F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2-2</a:t>
            </a:r>
            <a:endParaRPr lang="ko-KR" altLang="en-US" b="1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BE6B81-38DB-D131-188E-7BECE3475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en-US" altLang="ko-KR" b="1" dirty="0"/>
              <a:t>SR </a:t>
            </a:r>
            <a:r>
              <a:rPr lang="ko-KR" altLang="en-US" b="1" dirty="0"/>
              <a:t>상세 진행 현황 </a:t>
            </a:r>
            <a:r>
              <a:rPr lang="en-US" altLang="ko-KR" b="1" dirty="0"/>
              <a:t>&gt; PaaS</a:t>
            </a:r>
            <a:r>
              <a:rPr lang="ko-KR" altLang="en-US" b="1" dirty="0"/>
              <a:t> </a:t>
            </a:r>
            <a:r>
              <a:rPr lang="en-US" altLang="ko-KR" b="1" dirty="0"/>
              <a:t>(5/6)</a:t>
            </a:r>
          </a:p>
        </p:txBody>
      </p:sp>
      <p:grpSp>
        <p:nvGrpSpPr>
          <p:cNvPr id="5" name="그룹 5">
            <a:extLst>
              <a:ext uri="{FF2B5EF4-FFF2-40B4-BE49-F238E27FC236}">
                <a16:creationId xmlns:a16="http://schemas.microsoft.com/office/drawing/2014/main" id="{E0A1733C-9A9B-1CE6-BCE1-951DD6845469}"/>
              </a:ext>
            </a:extLst>
          </p:cNvPr>
          <p:cNvGrpSpPr/>
          <p:nvPr/>
        </p:nvGrpSpPr>
        <p:grpSpPr>
          <a:xfrm>
            <a:off x="560388" y="1404280"/>
            <a:ext cx="8283954" cy="211452"/>
            <a:chOff x="983148" y="1520472"/>
            <a:chExt cx="8283954" cy="2114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F5E71D-AACC-9782-47F2-9C5D0DB61973}"/>
                </a:ext>
              </a:extLst>
            </p:cNvPr>
            <p:cNvSpPr txBox="1"/>
            <p:nvPr/>
          </p:nvSpPr>
          <p:spPr>
            <a:xfrm>
              <a:off x="1270260" y="1520472"/>
              <a:ext cx="7996842" cy="2114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  <a:buSzPct val="250000"/>
                <a:tabLst>
                  <a:tab pos="180975" algn="l"/>
                </a:tabLst>
                <a:defRPr/>
              </a:pPr>
              <a:r>
                <a:rPr lang="en-US" altLang="ko-KR" sz="1200" b="1" spc="-50">
                  <a:gradFill>
                    <a:gsLst>
                      <a:gs pos="42080">
                        <a:prstClr val="black">
                          <a:lumMod val="75000"/>
                          <a:lumOff val="25000"/>
                        </a:prstClr>
                      </a:gs>
                      <a:gs pos="21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맑은 고딕"/>
                  <a:ea typeface="맑은 고딕"/>
                </a:rPr>
                <a:t>PaaS</a:t>
              </a:r>
              <a:endParaRPr lang="ko-KR" altLang="en-US" sz="1200" b="1" spc="-50">
                <a:gradFill>
                  <a:gsLst>
                    <a:gs pos="42080">
                      <a:prstClr val="black">
                        <a:lumMod val="75000"/>
                        <a:lumOff val="25000"/>
                      </a:prstClr>
                    </a:gs>
                    <a:gs pos="21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맑은 고딕"/>
                <a:ea typeface="맑은 고딕"/>
              </a:endParaRPr>
            </a:p>
          </p:txBody>
        </p:sp>
        <p:pic>
          <p:nvPicPr>
            <p:cNvPr id="7" name="그림 7">
              <a:extLst>
                <a:ext uri="{FF2B5EF4-FFF2-40B4-BE49-F238E27FC236}">
                  <a16:creationId xmlns:a16="http://schemas.microsoft.com/office/drawing/2014/main" id="{AAE2C213-48A5-4DC4-398A-25CA50D21654}"/>
                </a:ext>
              </a:extLst>
            </p:cNvPr>
            <p:cNvPicPr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83148" y="1528998"/>
              <a:ext cx="194400" cy="194400"/>
            </a:xfrm>
            <a:prstGeom prst="rect">
              <a:avLst/>
            </a:prstGeom>
          </p:spPr>
        </p:pic>
      </p:grpSp>
      <p:graphicFrame>
        <p:nvGraphicFramePr>
          <p:cNvPr id="8" name="표 10">
            <a:extLst>
              <a:ext uri="{FF2B5EF4-FFF2-40B4-BE49-F238E27FC236}">
                <a16:creationId xmlns:a16="http://schemas.microsoft.com/office/drawing/2014/main" id="{40593A62-569B-A3A6-C7E2-01612D983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6195400"/>
              </p:ext>
            </p:extLst>
          </p:nvPr>
        </p:nvGraphicFramePr>
        <p:xfrm>
          <a:off x="560385" y="1630604"/>
          <a:ext cx="8785421" cy="4383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7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제품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Tanzu Application Service</a:t>
                      </a:r>
                      <a:endParaRPr kumimoji="0" lang="en-US" sz="900" b="1" i="0" u="none" strike="noStrike" kern="1200" cap="none" spc="-50" normalizeH="0" baseline="0" dirty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 No.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37067926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심각도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(Severity)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발생 일자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2026-08-27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보관 일자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2026-09-03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상태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 </a:t>
                      </a: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Isolation </a:t>
                      </a:r>
                      <a:r>
                        <a:rPr lang="en-US" altLang="ko-KR" sz="900" baseline="0" dirty="0" err="1">
                          <a:latin typeface="+mn-ea"/>
                          <a:ea typeface="+mn-ea"/>
                        </a:rPr>
                        <a:t>Segement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Apply Change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중 </a:t>
                      </a:r>
                      <a:r>
                        <a:rPr lang="en-US" altLang="ko-KR" sz="900" baseline="0" dirty="0" err="1">
                          <a:latin typeface="+mn-ea"/>
                          <a:ea typeface="+mn-ea"/>
                        </a:rPr>
                        <a:t>Gorouter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update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가 지연된 원인 분석 요청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증상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Isolation </a:t>
                      </a:r>
                      <a:r>
                        <a:rPr lang="en-US" altLang="ko-KR" sz="900" baseline="0" dirty="0" err="1">
                          <a:latin typeface="+mn-ea"/>
                          <a:ea typeface="+mn-ea"/>
                        </a:rPr>
                        <a:t>Segement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Apply Change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중 </a:t>
                      </a:r>
                      <a:r>
                        <a:rPr lang="en-US" altLang="ko-KR" sz="900" baseline="0" dirty="0" err="1">
                          <a:latin typeface="+mn-ea"/>
                          <a:ea typeface="+mn-ea"/>
                        </a:rPr>
                        <a:t>Gorouter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update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가 지연된 원인 분석 요청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8787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 및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질의 내용</a:t>
                      </a:r>
                      <a:endParaRPr lang="ko-KR" altLang="en-US" sz="900" b="0" spc="-50" noProof="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Isolation Segment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타일을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10.4.2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버전으로 업그레이드하기 위해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Apply Change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수행 중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Gorouter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인스턴스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업데이트 단계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(drain)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의 소요 시간이 평소보다 현저히 지연됨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전체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시간 이상 소요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  <a:endParaRPr lang="ko-KR" altLang="en-US" sz="900" b="0" spc="-50" noProof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상황</a:t>
                      </a: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총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개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Gorouter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인스턴스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중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개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인스턴스에서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BOSH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인스턴스를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정지하기 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drain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단계에서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인스턴스당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약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15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분씩의 대기 지연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(Timeout)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 발생함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(2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개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인스턴스만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30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초 이내 정상 종료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gorouter-healthchecker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프로세스에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SIGUSR1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신호를 전달하여 헬스체크를 실패 처리함으로써 외부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로드밸런서가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해당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인스턴스로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신규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트래픽을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할당하지 않도록 차단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메인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gorouter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프로세스에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SIGUSR1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신호를 전달하여 신규 연결은 거부하고 기존 활성 연결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(active connections)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 완료될 때까지 우아한 종료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(graceful shutdown)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를 시도함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ps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Manager UI (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Tanzu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Platform for Cloud Foundry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타일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&gt; Networking)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에서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'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Gorouter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drain timeout'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기본값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(900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초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/15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분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을 단축할 수 있으나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 경우 진행 중인 클라이언트 요청이 끊어질 수 있음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최종 결과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Gorouter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update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가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지연된 원인은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active connection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이 많아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drain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작업 소요 시간 증대가 주요 원인이며 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active connection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확인 방법 전달 후 케이스 종료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87C0EF-CAEA-5251-865E-0DDBECB51EFC}"/>
              </a:ext>
            </a:extLst>
          </p:cNvPr>
          <p:cNvSpPr txBox="1"/>
          <p:nvPr/>
        </p:nvSpPr>
        <p:spPr>
          <a:xfrm>
            <a:off x="8521100" y="1412720"/>
            <a:ext cx="824512" cy="211203"/>
          </a:xfrm>
          <a:prstGeom prst="rect">
            <a:avLst/>
          </a:prstGeom>
        </p:spPr>
        <p:txBody>
          <a:bodyPr wrap="none" lIns="36000" tIns="36000" rIns="36000" bIns="36000" anchor="ctr" anchorCtr="0">
            <a:spAutoFit/>
          </a:bodyPr>
          <a:lstStyle>
            <a:defPPr>
              <a:defRPr lang="ko-KR"/>
            </a:defPPr>
            <a:lvl1pPr>
              <a:spcBef>
                <a:spcPts val="400"/>
              </a:spcBef>
              <a:defRPr sz="1000" spc="-20">
                <a:gradFill>
                  <a:gsLst>
                    <a:gs pos="74580">
                      <a:schemeClr val="tx1">
                        <a:lumMod val="65000"/>
                        <a:lumOff val="35000"/>
                      </a:schemeClr>
                    </a:gs>
                    <a:gs pos="6375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L"/>
                <a:ea typeface="Rix고딕 L"/>
              </a:defRPr>
            </a:lvl1pPr>
          </a:lstStyle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2026.08.31 </a:t>
            </a:r>
            <a:r>
              <a:rPr kumimoji="0" lang="ko-KR" altLang="en-US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기준</a:t>
            </a:r>
            <a:endParaRPr kumimoji="0" lang="ko-KR" altLang="en-US" sz="900" b="0" i="0" u="none" strike="noStrike" kern="1200" cap="none" spc="-50" normalizeH="0" baseline="0" dirty="0">
              <a:solidFill>
                <a:prstClr val="black">
                  <a:lumMod val="75000"/>
                  <a:lumOff val="25000"/>
                </a:prstClr>
              </a:solidFill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67833013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AB7121-EC23-5653-CD04-9FF06A676C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236EB15-21BA-0023-5819-F6BD546C9F78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2-2</a:t>
            </a:r>
            <a:endParaRPr lang="ko-KR" altLang="en-US" b="1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9BE6B81-38DB-D131-188E-7BECE34753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en-US" altLang="ko-KR" b="1" dirty="0"/>
              <a:t>SR </a:t>
            </a:r>
            <a:r>
              <a:rPr lang="ko-KR" altLang="en-US" b="1" dirty="0"/>
              <a:t>상세 진행 현황 </a:t>
            </a:r>
            <a:r>
              <a:rPr lang="en-US" altLang="ko-KR" b="1" dirty="0"/>
              <a:t>&gt; PaaS</a:t>
            </a:r>
            <a:r>
              <a:rPr lang="ko-KR" altLang="en-US" b="1" dirty="0"/>
              <a:t> </a:t>
            </a:r>
            <a:r>
              <a:rPr lang="en-US" altLang="ko-KR" b="1"/>
              <a:t>(6/6</a:t>
            </a:r>
            <a:r>
              <a:rPr lang="en-US" altLang="ko-KR" b="1" dirty="0"/>
              <a:t>)</a:t>
            </a:r>
          </a:p>
        </p:txBody>
      </p:sp>
      <p:grpSp>
        <p:nvGrpSpPr>
          <p:cNvPr id="5" name="그룹 5">
            <a:extLst>
              <a:ext uri="{FF2B5EF4-FFF2-40B4-BE49-F238E27FC236}">
                <a16:creationId xmlns:a16="http://schemas.microsoft.com/office/drawing/2014/main" id="{E0A1733C-9A9B-1CE6-BCE1-951DD6845469}"/>
              </a:ext>
            </a:extLst>
          </p:cNvPr>
          <p:cNvGrpSpPr/>
          <p:nvPr/>
        </p:nvGrpSpPr>
        <p:grpSpPr>
          <a:xfrm>
            <a:off x="560388" y="1404280"/>
            <a:ext cx="8283954" cy="211452"/>
            <a:chOff x="983148" y="1520472"/>
            <a:chExt cx="8283954" cy="211452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40F5E71D-AACC-9782-47F2-9C5D0DB61973}"/>
                </a:ext>
              </a:extLst>
            </p:cNvPr>
            <p:cNvSpPr txBox="1"/>
            <p:nvPr/>
          </p:nvSpPr>
          <p:spPr>
            <a:xfrm>
              <a:off x="1270260" y="1520472"/>
              <a:ext cx="7996842" cy="2114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 defTabSz="914400">
                <a:spcBef>
                  <a:spcPct val="0"/>
                </a:spcBef>
                <a:spcAft>
                  <a:spcPct val="0"/>
                </a:spcAft>
                <a:buSzPct val="250000"/>
                <a:tabLst>
                  <a:tab pos="180975" algn="l"/>
                </a:tabLst>
                <a:defRPr/>
              </a:pPr>
              <a:r>
                <a:rPr lang="en-US" altLang="ko-KR" sz="1200" b="1" spc="-50">
                  <a:gradFill>
                    <a:gsLst>
                      <a:gs pos="42080">
                        <a:prstClr val="black">
                          <a:lumMod val="75000"/>
                          <a:lumOff val="25000"/>
                        </a:prstClr>
                      </a:gs>
                      <a:gs pos="21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맑은 고딕"/>
                  <a:ea typeface="맑은 고딕"/>
                </a:rPr>
                <a:t>PaaS</a:t>
              </a:r>
              <a:endParaRPr lang="ko-KR" altLang="en-US" sz="1200" b="1" spc="-50">
                <a:gradFill>
                  <a:gsLst>
                    <a:gs pos="42080">
                      <a:prstClr val="black">
                        <a:lumMod val="75000"/>
                        <a:lumOff val="25000"/>
                      </a:prstClr>
                    </a:gs>
                    <a:gs pos="21000">
                      <a:prstClr val="black">
                        <a:lumMod val="75000"/>
                        <a:lumOff val="25000"/>
                      </a:prstClr>
                    </a:gs>
                  </a:gsLst>
                  <a:lin ang="5400000" scaled="0"/>
                </a:gradFill>
                <a:latin typeface="맑은 고딕"/>
                <a:ea typeface="맑은 고딕"/>
              </a:endParaRPr>
            </a:p>
          </p:txBody>
        </p:sp>
        <p:pic>
          <p:nvPicPr>
            <p:cNvPr id="7" name="그림 7">
              <a:extLst>
                <a:ext uri="{FF2B5EF4-FFF2-40B4-BE49-F238E27FC236}">
                  <a16:creationId xmlns:a16="http://schemas.microsoft.com/office/drawing/2014/main" id="{AAE2C213-48A5-4DC4-398A-25CA50D21654}"/>
                </a:ext>
              </a:extLst>
            </p:cNvPr>
            <p:cNvPicPr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83148" y="1528998"/>
              <a:ext cx="194400" cy="194400"/>
            </a:xfrm>
            <a:prstGeom prst="rect">
              <a:avLst/>
            </a:prstGeom>
          </p:spPr>
        </p:pic>
      </p:grpSp>
      <p:graphicFrame>
        <p:nvGraphicFramePr>
          <p:cNvPr id="8" name="표 10">
            <a:extLst>
              <a:ext uri="{FF2B5EF4-FFF2-40B4-BE49-F238E27FC236}">
                <a16:creationId xmlns:a16="http://schemas.microsoft.com/office/drawing/2014/main" id="{40593A62-569B-A3A6-C7E2-01612D98378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82785223"/>
              </p:ext>
            </p:extLst>
          </p:nvPr>
        </p:nvGraphicFramePr>
        <p:xfrm>
          <a:off x="560385" y="1630604"/>
          <a:ext cx="8785421" cy="43835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076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11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723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10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제품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Tanzu Application Service</a:t>
                      </a:r>
                      <a:endParaRPr kumimoji="0" lang="en-US" sz="900" b="1" i="0" u="none" strike="noStrike" kern="1200" cap="none" spc="-50" normalizeH="0" baseline="0" dirty="0">
                        <a:ln w="9525">
                          <a:solidFill>
                            <a:schemeClr val="accent1">
                              <a:alpha val="0"/>
                            </a:schemeClr>
                          </a:solidFill>
                        </a:ln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 No.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37068075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심각도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(Severity)</a:t>
                      </a:r>
                      <a:endParaRPr kumimoji="0" lang="en-US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+mn-ea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0000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발생 일자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bg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2026-08-27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  <a:r>
                        <a:rPr kumimoji="0" lang="en-US" altLang="ko-KR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보관 일자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ln w="9525">
                            <a:solidFill>
                              <a:schemeClr val="accent1">
                                <a:alpha val="0"/>
                              </a:schemeClr>
                            </a:solidFill>
                          </a:ln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2026-09-02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상태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5E8A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rgbClr val="404040"/>
                          </a:solidFill>
                          <a:latin typeface="+mn-ea"/>
                          <a:ea typeface="+mn-ea"/>
                          <a:cs typeface="+mn-cs"/>
                        </a:rPr>
                        <a:t>종료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SR </a:t>
                      </a: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제목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Compilation VM 2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대가 삭제되지 않고 계속 잔류하는 현상 분석 요청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증상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Compilation VM 2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대가 삭제되지 않고 계속 잔류하는 현상 분석 요청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248787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분석 및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상황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질의 내용</a:t>
                      </a:r>
                      <a:endParaRPr lang="ko-KR" altLang="en-US" sz="900" b="0" spc="-50" noProof="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Tanzu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Platform 10.4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업그레이드 전 하드웨어 교체로 인해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BOSH Director VM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을 신규 가용 영역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(AZ: AZ-INFRA15)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으로 이동시켰으며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,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업그레이드 후 장애 대비 백업용으로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GemFire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2.1.2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서비스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인스턴스를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새로 생성함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en-US" altLang="ko-KR" sz="900" b="0" spc="-50" noProof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cf</a:t>
                      </a:r>
                      <a:r>
                        <a:rPr lang="en-US" altLang="ko-KR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upgrade-service </a:t>
                      </a:r>
                      <a:r>
                        <a:rPr lang="ko-KR" altLang="en-US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명령어로 해당 </a:t>
                      </a:r>
                      <a:r>
                        <a:rPr lang="en-US" altLang="ko-KR" sz="900" b="0" spc="-50" baseline="0" noProof="0" dirty="0" err="1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Gemfire</a:t>
                      </a:r>
                      <a:r>
                        <a:rPr lang="ko-KR" altLang="en-US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를 업그레이드 하려고 했으나 </a:t>
                      </a:r>
                      <a:r>
                        <a:rPr lang="en-US" altLang="ko-KR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AZ</a:t>
                      </a:r>
                      <a:r>
                        <a:rPr lang="ko-KR" altLang="en-US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가 일치 하지 않는 문제로 업그레이드가 진행 되지 않았음 </a:t>
                      </a:r>
                      <a:r>
                        <a:rPr lang="en-US" altLang="ko-KR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(</a:t>
                      </a:r>
                      <a:r>
                        <a:rPr lang="ko-KR" altLang="en-US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서비스가 실제로 찍혀 있는 </a:t>
                      </a:r>
                      <a:r>
                        <a:rPr lang="en-US" altLang="ko-KR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AZ</a:t>
                      </a:r>
                      <a:r>
                        <a:rPr lang="ko-KR" altLang="en-US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와 </a:t>
                      </a:r>
                      <a:r>
                        <a:rPr lang="en-US" altLang="ko-KR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  <a:r>
                        <a:rPr lang="ko-KR" altLang="en-US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의 </a:t>
                      </a:r>
                      <a:r>
                        <a:rPr lang="en-US" altLang="ko-KR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AZ</a:t>
                      </a:r>
                      <a:r>
                        <a:rPr lang="ko-KR" altLang="en-US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가 일치 하지 않음</a:t>
                      </a:r>
                      <a:r>
                        <a:rPr lang="en-US" altLang="ko-KR" sz="900" b="0" spc="-50" baseline="0" noProof="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)</a:t>
                      </a:r>
                    </a:p>
                    <a:p>
                      <a:pPr marL="357188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/>
                        <a:buChar char="ü"/>
                        <a:tabLst/>
                        <a:defRPr/>
                      </a:pP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Compilation VM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이 사라지지 않고 남아 있는 현상을 발견 했으며 왜 사라지지 않고 잔류 하고 있는지 문의</a:t>
                      </a:r>
                      <a:endParaRPr lang="ko-KR" altLang="en-US" sz="900" b="0" spc="-50" noProof="0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88900" marR="0" lvl="0" indent="-88900" algn="l" defTabSz="914400" rtl="0" eaLnBrk="1" latinLnBrk="0" hangingPunct="1">
                        <a:lnSpc>
                          <a:spcPct val="100000"/>
                        </a:lnSpc>
                        <a:spcBef>
                          <a:spcPts val="600"/>
                        </a:spcBef>
                        <a:spcAft>
                          <a:spcPts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noProof="0" dirty="0"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진행 상황</a:t>
                      </a: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en-US" sz="900" dirty="0"/>
                        <a:t>신규 </a:t>
                      </a:r>
                      <a:r>
                        <a:rPr lang="en-US" altLang="ko-KR" sz="900" dirty="0"/>
                        <a:t>AZ(AZ-INFRA15)</a:t>
                      </a:r>
                      <a:r>
                        <a:rPr lang="ko-KR" altLang="en-US" sz="900" dirty="0"/>
                        <a:t>의 </a:t>
                      </a:r>
                      <a:r>
                        <a:rPr lang="en-US" altLang="ko-KR" sz="900" dirty="0"/>
                        <a:t>CPI(46a61b6c1292f828de10)</a:t>
                      </a:r>
                      <a:r>
                        <a:rPr lang="ko-KR" altLang="en-US" sz="900" dirty="0"/>
                        <a:t>에 필요한 </a:t>
                      </a:r>
                      <a:r>
                        <a:rPr lang="en-US" altLang="ko-KR" sz="900" dirty="0" err="1"/>
                        <a:t>Stemcell</a:t>
                      </a:r>
                      <a:r>
                        <a:rPr lang="en-US" altLang="ko-KR" sz="900" dirty="0"/>
                        <a:t>(bosh-</a:t>
                      </a:r>
                      <a:r>
                        <a:rPr lang="en-US" altLang="ko-KR" sz="900" dirty="0" err="1"/>
                        <a:t>vsphere</a:t>
                      </a:r>
                      <a:r>
                        <a:rPr lang="en-US" altLang="ko-KR" sz="900" dirty="0"/>
                        <a:t>-</a:t>
                      </a:r>
                      <a:r>
                        <a:rPr lang="en-US" altLang="ko-KR" sz="900" dirty="0" err="1"/>
                        <a:t>esxi-ubuntu-jammy-go_agent</a:t>
                      </a:r>
                      <a:r>
                        <a:rPr lang="en-US" altLang="ko-KR" sz="900" dirty="0"/>
                        <a:t> v1.866)</a:t>
                      </a:r>
                      <a:r>
                        <a:rPr lang="ko-KR" altLang="en-US" sz="900" dirty="0"/>
                        <a:t>이 올바르게 등록되지 않아 </a:t>
                      </a:r>
                      <a:r>
                        <a:rPr lang="en-US" altLang="ko-KR" sz="900" dirty="0"/>
                        <a:t>BOSH</a:t>
                      </a:r>
                      <a:r>
                        <a:rPr lang="ko-KR" altLang="en-US" sz="900" dirty="0"/>
                        <a:t>가 </a:t>
                      </a:r>
                      <a:r>
                        <a:rPr lang="en-US" altLang="ko-KR" sz="900" dirty="0" err="1"/>
                        <a:t>Stemcell</a:t>
                      </a:r>
                      <a:r>
                        <a:rPr lang="ko-KR" altLang="en-US" sz="900" dirty="0"/>
                        <a:t>을 찾을 수 없는 상태가 됨</a:t>
                      </a:r>
                      <a:endParaRPr lang="en-US" altLang="ko-KR" sz="900" dirty="0"/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이로 인해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Compilation VM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이 정상 동작하지 못하고 상태가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'-'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로 표시된 채 남아있게 됨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  <a:p>
                      <a:pPr marL="357188" marR="0" lvl="0" indent="-171450" algn="l" defTabSz="914400" rtl="0" eaLnBrk="1" latinLnBrk="0" hangingPunct="1">
                        <a:lnSpc>
                          <a:spcPct val="100000"/>
                        </a:lnSpc>
                        <a:spcBef>
                          <a:spcPts val="300"/>
                        </a:spcBef>
                        <a:spcAft>
                          <a:spcPts val="0"/>
                        </a:spcAft>
                        <a:buClrTx/>
                        <a:buFont typeface="Wingdings"/>
                        <a:buChar char="ü"/>
                        <a:defRPr/>
                      </a:pP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Stemcell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수동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/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강제 업로드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: bosh upload-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stemcell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&lt;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파일명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&gt; --fix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명령어를 실행하여 누락되었던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Stemcell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1.866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을 신규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AZ(AZ-INFRA15)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에 재 업로드 및 복구할 것을 권고</a:t>
                      </a:r>
                      <a:endParaRPr lang="en-US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1579"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최종 결과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rgbClr val="007DB8"/>
                    </a:solidFill>
                  </a:tcPr>
                </a:tc>
                <a:tc gridSpan="5">
                  <a:txBody>
                    <a:bodyPr/>
                    <a:lstStyle/>
                    <a:p>
                      <a:pPr marL="88900" marR="0" lvl="0" indent="-8890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SR</a:t>
                      </a:r>
                      <a:r>
                        <a:rPr lang="en-US" altLang="ko-KR" sz="900" baseline="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baseline="0" dirty="0">
                          <a:latin typeface="+mn-ea"/>
                          <a:ea typeface="+mn-ea"/>
                        </a:rPr>
                        <a:t>엔지니어의 권고 사항대로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누락되었던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Stemcell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1.866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을 재 업로드 했으며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cf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delete-service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명령어를 실행하여 잔류하던 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Compilation VM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과 함께 </a:t>
                      </a:r>
                      <a:r>
                        <a:rPr lang="en-US" altLang="ko-KR" sz="900" dirty="0" err="1">
                          <a:latin typeface="+mn-ea"/>
                          <a:ea typeface="+mn-ea"/>
                        </a:rPr>
                        <a:t>GemFire</a:t>
                      </a:r>
                      <a:r>
                        <a:rPr lang="en-US" altLang="ko-KR" sz="900" dirty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서비스 </a:t>
                      </a:r>
                      <a:r>
                        <a:rPr lang="ko-KR" altLang="en-US" sz="900" dirty="0" err="1">
                          <a:latin typeface="+mn-ea"/>
                          <a:ea typeface="+mn-ea"/>
                        </a:rPr>
                        <a:t>인스턴스를</a:t>
                      </a:r>
                      <a:r>
                        <a:rPr lang="ko-KR" altLang="en-US" sz="900" dirty="0">
                          <a:latin typeface="+mn-ea"/>
                          <a:ea typeface="+mn-ea"/>
                        </a:rPr>
                        <a:t> 삭제 완료 함</a:t>
                      </a:r>
                      <a:endParaRPr lang="ko-KR" altLang="ko-KR" sz="900" dirty="0">
                        <a:latin typeface="+mn-ea"/>
                        <a:ea typeface="+mn-ea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w="med" len="med"/>
                      <a:tailEnd w="med" len="med"/>
                    </a:lnL>
                  </a:tcPr>
                </a:tc>
                <a:tc hMerge="1">
                  <a:txBody>
                    <a:bodyPr/>
                    <a:lstStyle/>
                    <a:p>
                      <a:pPr lvl="0">
                        <a:defRPr/>
                      </a:pPr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9C87C0EF-CAEA-5251-865E-0DDBECB51EFC}"/>
              </a:ext>
            </a:extLst>
          </p:cNvPr>
          <p:cNvSpPr txBox="1"/>
          <p:nvPr/>
        </p:nvSpPr>
        <p:spPr>
          <a:xfrm>
            <a:off x="8521100" y="1412720"/>
            <a:ext cx="824512" cy="211203"/>
          </a:xfrm>
          <a:prstGeom prst="rect">
            <a:avLst/>
          </a:prstGeom>
        </p:spPr>
        <p:txBody>
          <a:bodyPr wrap="none" lIns="36000" tIns="36000" rIns="36000" bIns="36000" anchor="ctr" anchorCtr="0">
            <a:spAutoFit/>
          </a:bodyPr>
          <a:lstStyle>
            <a:defPPr>
              <a:defRPr lang="ko-KR"/>
            </a:defPPr>
            <a:lvl1pPr>
              <a:spcBef>
                <a:spcPts val="400"/>
              </a:spcBef>
              <a:defRPr sz="1000" spc="-20">
                <a:gradFill>
                  <a:gsLst>
                    <a:gs pos="74580">
                      <a:schemeClr val="tx1">
                        <a:lumMod val="65000"/>
                        <a:lumOff val="35000"/>
                      </a:schemeClr>
                    </a:gs>
                    <a:gs pos="63750">
                      <a:schemeClr val="tx1">
                        <a:lumMod val="65000"/>
                        <a:lumOff val="35000"/>
                      </a:schemeClr>
                    </a:gs>
                  </a:gsLst>
                  <a:lin ang="5400000" scaled="0"/>
                </a:gradFill>
                <a:latin typeface="Rix고딕 L"/>
                <a:ea typeface="Rix고딕 L"/>
              </a:defRPr>
            </a:lvl1pPr>
          </a:lstStyle>
          <a:p>
            <a:pPr marL="0" marR="0" lvl="0" indent="0" algn="r" defTabSz="914400" rtl="0" eaLnBrk="1" latinLnBrk="1" hangingPunct="1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kumimoji="0" lang="en-US" altLang="ko-KR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2026.08.31 </a:t>
            </a:r>
            <a:r>
              <a:rPr kumimoji="0" lang="ko-KR" altLang="en-US" sz="900" b="0" i="0" u="none" strike="noStrike" kern="1200" cap="none" spc="-50" normalizeH="0" baseline="0" dirty="0">
                <a:solidFill>
                  <a:prstClr val="black">
                    <a:lumMod val="75000"/>
                    <a:lumOff val="25000"/>
                  </a:prstClr>
                </a:solidFill>
                <a:effectLst/>
                <a:uLnTx/>
                <a:uFillTx/>
                <a:latin typeface="맑은 고딕"/>
                <a:ea typeface="맑은 고딕"/>
                <a:cs typeface="+mn-cs"/>
              </a:rPr>
              <a:t>기준</a:t>
            </a:r>
            <a:endParaRPr kumimoji="0" lang="ko-KR" altLang="en-US" sz="900" b="0" i="0" u="none" strike="noStrike" kern="1200" cap="none" spc="-50" normalizeH="0" baseline="0" dirty="0">
              <a:solidFill>
                <a:prstClr val="black">
                  <a:lumMod val="75000"/>
                  <a:lumOff val="25000"/>
                </a:prstClr>
              </a:solidFill>
              <a:latin typeface="맑은 고딕"/>
              <a:ea typeface="맑은 고딕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5457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3-3</a:t>
            </a:r>
            <a:endParaRPr lang="ko-KR" altLang="en-US" b="1"/>
          </a:p>
        </p:txBody>
      </p:sp>
      <p:sp>
        <p:nvSpPr>
          <p:cNvPr id="3" name="텍스트 개체 틀 2"/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ko-KR" altLang="en-US" b="1" dirty="0"/>
              <a:t>작업 진행 현황 </a:t>
            </a:r>
            <a:r>
              <a:rPr lang="en-US" altLang="ko-KR" b="1" dirty="0"/>
              <a:t>&gt; PaaS (1/3)</a:t>
            </a:r>
            <a:endParaRPr lang="ko-KR" altLang="en-US" b="1" dirty="0"/>
          </a:p>
        </p:txBody>
      </p:sp>
      <p:grpSp>
        <p:nvGrpSpPr>
          <p:cNvPr id="12" name="그룹 11"/>
          <p:cNvGrpSpPr/>
          <p:nvPr/>
        </p:nvGrpSpPr>
        <p:grpSpPr>
          <a:xfrm>
            <a:off x="560388" y="1404408"/>
            <a:ext cx="8283950" cy="211452"/>
            <a:chOff x="983148" y="1520472"/>
            <a:chExt cx="8283950" cy="211452"/>
          </a:xfrm>
        </p:grpSpPr>
        <p:sp>
          <p:nvSpPr>
            <p:cNvPr id="13" name="TextBox 12"/>
            <p:cNvSpPr txBox="1"/>
            <p:nvPr/>
          </p:nvSpPr>
          <p:spPr>
            <a:xfrm>
              <a:off x="1270260" y="1520472"/>
              <a:ext cx="7996838" cy="2114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  <a:buSzPct val="250000"/>
                <a:tabLst>
                  <a:tab pos="180975" algn="l"/>
                </a:tabLst>
                <a:defRPr/>
              </a:pPr>
              <a:r>
                <a:rPr lang="en-US" altLang="ko-KR" sz="1200" b="1" spc="-50">
                  <a:gradFill>
                    <a:gsLst>
                      <a:gs pos="42080">
                        <a:prstClr val="black">
                          <a:lumMod val="75000"/>
                          <a:lumOff val="25000"/>
                        </a:prstClr>
                      </a:gs>
                      <a:gs pos="21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맑은 고딕"/>
                  <a:ea typeface="맑은 고딕"/>
                </a:rPr>
                <a:t>PaaS</a:t>
              </a:r>
            </a:p>
          </p:txBody>
        </p:sp>
        <p:pic>
          <p:nvPicPr>
            <p:cNvPr id="14" name="그림 13"/>
            <p:cNvPicPr/>
            <p:nvPr/>
          </p:nvPicPr>
          <p:blipFill rotWithShape="1">
            <a:blip r:embed="rId2"/>
            <a:srcRect/>
            <a:stretch>
              <a:fillRect/>
            </a:stretch>
          </p:blipFill>
          <p:spPr>
            <a:xfrm>
              <a:off x="983148" y="1528998"/>
              <a:ext cx="194400" cy="194400"/>
            </a:xfrm>
            <a:prstGeom prst="rect">
              <a:avLst/>
            </a:prstGeom>
          </p:spPr>
        </p:pic>
      </p:grp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11705640"/>
              </p:ext>
            </p:extLst>
          </p:nvPr>
        </p:nvGraphicFramePr>
        <p:xfrm>
          <a:off x="560672" y="1628774"/>
          <a:ext cx="8784940" cy="4608514"/>
        </p:xfrm>
        <a:graphic>
          <a:graphicData uri="http://schemas.openxmlformats.org/drawingml/2006/table">
            <a:tbl>
              <a:tblPr/>
              <a:tblGrid>
                <a:gridCol w="5714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92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74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5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4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전산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센터</a:t>
                      </a:r>
                      <a:endParaRPr kumimoji="0" lang="en-US" sz="900" b="1" i="0" u="none" strike="noStrike" kern="1200" cap="none" spc="-50" normalizeH="0" baseline="0" dirty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법인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작업일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지원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작업 내역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이슈 사항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비고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8/3 – 8/9</a:t>
                      </a:r>
                      <a:endParaRPr kumimoji="0" lang="en-US" altLang="ko-KR" sz="900" b="1" i="0" u="none" strike="noStrike" kern="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Internal </a:t>
                      </a: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통신 지연 원인 분석 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66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8/4</a:t>
                      </a:r>
                      <a:endParaRPr kumimoji="0" lang="en-US" altLang="ko-KR" sz="900" b="1" i="0" u="none" strike="noStrike" kern="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ko-KR" altLang="ko-KR" sz="900" b="0" kern="120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Avi 서비스엔진 OS 업그레이드 모니터링 지원</a:t>
                      </a:r>
                      <a:endParaRPr lang="ko-KR" altLang="ko-KR" sz="9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66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검증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8/4 - 8/12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silk-</a:t>
                      </a:r>
                      <a:r>
                        <a:rPr kumimoji="0" lang="en-US" altLang="ko-KR" sz="900" b="0" i="0" u="none" strike="noStrike" kern="1200" cap="none" spc="-50" normalizeH="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vtep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TX </a:t>
                      </a:r>
                      <a:r>
                        <a:rPr kumimoji="0" lang="ko-KR" altLang="en-US" sz="900" b="0" i="0" u="none" strike="noStrike" kern="1200" cap="none" spc="-50" normalizeH="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체크섬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오프로드 비활성화 조치에 대한 근본 원인 검증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638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중앙회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8/5</a:t>
                      </a:r>
                      <a:endParaRPr kumimoji="0" lang="ko-KR" altLang="en-US" sz="900" b="1" i="0" u="none" strike="noStrike" kern="0" cap="none" spc="-50" normalizeH="0" baseline="0" dirty="0"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중앙회 개발 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TPCF 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설정에 맞춰 </a:t>
                      </a:r>
                      <a:r>
                        <a:rPr kumimoji="0" lang="en-US" altLang="ko-KR" sz="900" b="0" i="0" u="none" strike="noStrike" kern="1200" cap="none" spc="-50" normalizeH="0" baseline="0" dirty="0" err="1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logstash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에 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syslog 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설정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638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8/5</a:t>
                      </a:r>
                      <a:endParaRPr kumimoji="0" lang="ko-KR" altLang="en-US" sz="900" b="1" i="0" u="none" strike="noStrike" kern="0" cap="none" spc="-50" normalizeH="0" baseline="0" dirty="0"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CLMS BOSH Config 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배포 실패 원인 분석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809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26638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8/5</a:t>
                      </a:r>
                      <a:endParaRPr kumimoji="0" lang="ko-KR" altLang="en-US" sz="900" b="1" i="0" u="none" strike="noStrike" kern="0" cap="none" spc="-50" normalizeH="0" baseline="0" dirty="0"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TAS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 업그레이드 사전 작업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철야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809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0343644"/>
                  </a:ext>
                </a:extLst>
              </a:tr>
              <a:tr h="526638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중앙회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8/13</a:t>
                      </a:r>
                      <a:endParaRPr kumimoji="0" lang="ko-KR" altLang="en-US" sz="900" b="1" i="0" u="none" strike="noStrike" kern="0" cap="none" spc="-50" normalizeH="0" baseline="0" dirty="0"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인증서 만료일 확인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36059489"/>
                  </a:ext>
                </a:extLst>
              </a:tr>
              <a:tr h="526638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DR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중앙회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8/13</a:t>
                      </a:r>
                      <a:endParaRPr kumimoji="0" lang="ko-KR" altLang="en-US" sz="900" b="1" i="0" u="none" strike="noStrike" kern="0" cap="none" spc="-50" normalizeH="0" baseline="0" dirty="0"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BOSH Disk Full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로 인한 증설 시 에러 발생 이슈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809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72829763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2E1984-BD61-626D-8122-1BB14FDEB3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F9462ADC-DB0C-1370-05CC-DCB933360A2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3-3</a:t>
            </a:r>
            <a:endParaRPr lang="ko-KR" altLang="en-US" b="1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BA02770B-09C6-0E8C-25FD-8DDE59CE29CC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ko-KR" altLang="en-US" b="1" dirty="0"/>
              <a:t>작업 진행 현황 </a:t>
            </a:r>
            <a:r>
              <a:rPr lang="en-US" altLang="ko-KR" b="1" dirty="0"/>
              <a:t>&gt; PaaS (2/3)</a:t>
            </a:r>
            <a:endParaRPr lang="ko-KR" altLang="en-US" b="1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DC61388C-E752-9191-B391-1201A4FC55D8}"/>
              </a:ext>
            </a:extLst>
          </p:cNvPr>
          <p:cNvGrpSpPr/>
          <p:nvPr/>
        </p:nvGrpSpPr>
        <p:grpSpPr>
          <a:xfrm>
            <a:off x="560388" y="1404408"/>
            <a:ext cx="8283950" cy="211452"/>
            <a:chOff x="983148" y="1520472"/>
            <a:chExt cx="8283950" cy="21145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1AE0E8AC-234C-FD5F-0A79-2B856276BD0B}"/>
                </a:ext>
              </a:extLst>
            </p:cNvPr>
            <p:cNvSpPr txBox="1"/>
            <p:nvPr/>
          </p:nvSpPr>
          <p:spPr>
            <a:xfrm>
              <a:off x="1270260" y="1520472"/>
              <a:ext cx="7996838" cy="2114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  <a:buSzPct val="250000"/>
                <a:tabLst>
                  <a:tab pos="180975" algn="l"/>
                </a:tabLst>
                <a:defRPr/>
              </a:pPr>
              <a:r>
                <a:rPr lang="en-US" altLang="ko-KR" sz="1200" b="1" spc="-50">
                  <a:gradFill>
                    <a:gsLst>
                      <a:gs pos="42080">
                        <a:prstClr val="black">
                          <a:lumMod val="75000"/>
                          <a:lumOff val="25000"/>
                        </a:prstClr>
                      </a:gs>
                      <a:gs pos="21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맑은 고딕"/>
                  <a:ea typeface="맑은 고딕"/>
                </a:rPr>
                <a:t>PaaS</a:t>
              </a: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000BFC9-83F3-CB52-0443-0024B8A49191}"/>
                </a:ext>
              </a:extLst>
            </p:cNvPr>
            <p:cNvPicPr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983148" y="1528998"/>
              <a:ext cx="194400" cy="194400"/>
            </a:xfrm>
            <a:prstGeom prst="rect">
              <a:avLst/>
            </a:prstGeom>
          </p:spPr>
        </p:pic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53709CF9-D270-CC9A-0F49-02A8B031CDB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8272454"/>
              </p:ext>
            </p:extLst>
          </p:nvPr>
        </p:nvGraphicFramePr>
        <p:xfrm>
          <a:off x="560388" y="1628774"/>
          <a:ext cx="8785224" cy="4608514"/>
        </p:xfrm>
        <a:graphic>
          <a:graphicData uri="http://schemas.openxmlformats.org/drawingml/2006/table">
            <a:tbl>
              <a:tblPr/>
              <a:tblGrid>
                <a:gridCol w="571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92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74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5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4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전산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센터</a:t>
                      </a:r>
                      <a:endParaRPr kumimoji="0" lang="en-US" sz="900" b="1" i="0" u="none" strike="noStrike" kern="1200" cap="none" spc="-50" normalizeH="0" baseline="0" dirty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법인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작업일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지원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작업 내역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이슈 사항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비고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38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DR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8/17 – 8/18</a:t>
                      </a:r>
                      <a:endParaRPr kumimoji="0" lang="ko-KR" altLang="en-US" sz="900" b="1" i="0" u="none" strike="noStrike" kern="0" cap="none" spc="-50" normalizeH="0" baseline="0" dirty="0"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GEN 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야간 작업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8096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638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검증</a:t>
                      </a: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8/19 – 8/28</a:t>
                      </a:r>
                      <a:endParaRPr kumimoji="0" lang="ko-KR" altLang="en-US" sz="900" b="1" i="0" u="none" strike="noStrike" kern="0" cap="none" spc="-50" normalizeH="0" baseline="0" dirty="0"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AI 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서비스 설치 및 검증 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- 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사전 준비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66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8/19</a:t>
                      </a:r>
                      <a:endParaRPr kumimoji="0" lang="en-US" altLang="ko-KR" sz="900" b="1" i="0" u="none" strike="noStrike" kern="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kumimoji="0" lang="en-US" altLang="ko-KR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Tanzu RabbitMQ CVE/</a:t>
                      </a: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컴포넌트 영향도 정리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45422356"/>
                  </a:ext>
                </a:extLst>
              </a:tr>
              <a:tr h="5266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8/20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7313" marR="0" lvl="0" indent="-87313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/>
                        <a:buChar char="•"/>
                        <a:tabLst/>
                        <a:defRPr/>
                      </a:pP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NSX LB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잔여 트래픽 유입에 따른 </a:t>
                      </a:r>
                      <a:r>
                        <a:rPr lang="en-US" altLang="ko-KR" sz="9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Container IP </a:t>
                      </a:r>
                      <a:r>
                        <a:rPr lang="ko-KR" altLang="en-US" sz="900" b="0" kern="1200" dirty="0">
                          <a:solidFill>
                            <a:schemeClr val="dk1"/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확인 및 원인 분석</a:t>
                      </a:r>
                      <a:endParaRPr lang="ko-KR" altLang="ko-KR" sz="900" b="0" kern="1200" dirty="0">
                        <a:solidFill>
                          <a:schemeClr val="dk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06317117"/>
                  </a:ext>
                </a:extLst>
              </a:tr>
              <a:tr h="5266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8/21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관리 클러스터 마이그레이션 사전 작업 미팅 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40357827"/>
                  </a:ext>
                </a:extLst>
              </a:tr>
              <a:tr h="526638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8/28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클러스터 이관 작업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97285653"/>
                  </a:ext>
                </a:extLst>
              </a:tr>
              <a:tr h="526638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8/26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TPCF 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업그레이드 작업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0834934"/>
                  </a:ext>
                </a:extLst>
              </a:tr>
              <a:tr h="526638"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8/27 –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latin typeface="맑은 고딕"/>
                          <a:ea typeface="맑은 고딕"/>
                          <a:cs typeface="+mn-cs"/>
                        </a:rPr>
                        <a:t>8/28</a:t>
                      </a: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/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철야 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TAS 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업그레이드</a:t>
                      </a: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/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+mn-ea"/>
                          <a:ea typeface="+mn-ea"/>
                          <a:cs typeface="+mn-cs"/>
                        </a:rPr>
                        <a:t>인증서 삭제 작업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44002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129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193DB5-56AD-B458-1603-D0C84E8EF7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7779FE03-95AD-2534-FB29-8E6F9444BAC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 b="1"/>
              <a:t>3-3</a:t>
            </a:r>
            <a:endParaRPr lang="ko-KR" altLang="en-US" b="1"/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C1DAD274-24FF-F592-45AA-A8766C5475E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/>
        <p:txBody>
          <a:bodyPr>
            <a:normAutofit fontScale="92500" lnSpcReduction="20000"/>
          </a:bodyPr>
          <a:lstStyle/>
          <a:p>
            <a:pPr lvl="0">
              <a:defRPr/>
            </a:pPr>
            <a:r>
              <a:rPr lang="ko-KR" altLang="en-US" b="1" dirty="0"/>
              <a:t>작업 진행 현황 </a:t>
            </a:r>
            <a:r>
              <a:rPr lang="en-US" altLang="ko-KR" b="1" dirty="0"/>
              <a:t>&gt; PaaS (3/3)</a:t>
            </a:r>
            <a:endParaRPr lang="ko-KR" altLang="en-US" b="1" dirty="0"/>
          </a:p>
        </p:txBody>
      </p:sp>
      <p:grpSp>
        <p:nvGrpSpPr>
          <p:cNvPr id="12" name="그룹 11">
            <a:extLst>
              <a:ext uri="{FF2B5EF4-FFF2-40B4-BE49-F238E27FC236}">
                <a16:creationId xmlns:a16="http://schemas.microsoft.com/office/drawing/2014/main" id="{F024EC73-297E-405D-05D0-901E1DD09E81}"/>
              </a:ext>
            </a:extLst>
          </p:cNvPr>
          <p:cNvGrpSpPr/>
          <p:nvPr/>
        </p:nvGrpSpPr>
        <p:grpSpPr>
          <a:xfrm>
            <a:off x="560388" y="1404408"/>
            <a:ext cx="8283950" cy="211452"/>
            <a:chOff x="983148" y="1520472"/>
            <a:chExt cx="8283950" cy="211452"/>
          </a:xfrm>
        </p:grpSpPr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A05418BF-ABD3-62D0-D840-BBD198699034}"/>
                </a:ext>
              </a:extLst>
            </p:cNvPr>
            <p:cNvSpPr txBox="1"/>
            <p:nvPr/>
          </p:nvSpPr>
          <p:spPr>
            <a:xfrm>
              <a:off x="1270260" y="1520472"/>
              <a:ext cx="7996838" cy="211452"/>
            </a:xfrm>
            <a:prstGeom prst="rect">
              <a:avLst/>
            </a:prstGeom>
            <a:noFill/>
          </p:spPr>
          <p:txBody>
            <a:bodyPr wrap="square" lIns="0" tIns="0" rIns="0" bIns="0" anchor="ctr">
              <a:noAutofit/>
            </a:bodyPr>
            <a:lstStyle/>
            <a:p>
              <a:pPr>
                <a:spcBef>
                  <a:spcPct val="0"/>
                </a:spcBef>
                <a:spcAft>
                  <a:spcPct val="0"/>
                </a:spcAft>
                <a:buSzPct val="250000"/>
                <a:tabLst>
                  <a:tab pos="180975" algn="l"/>
                </a:tabLst>
                <a:defRPr/>
              </a:pPr>
              <a:r>
                <a:rPr lang="en-US" altLang="ko-KR" sz="1200" b="1" spc="-50">
                  <a:gradFill>
                    <a:gsLst>
                      <a:gs pos="42080">
                        <a:prstClr val="black">
                          <a:lumMod val="75000"/>
                          <a:lumOff val="25000"/>
                        </a:prstClr>
                      </a:gs>
                      <a:gs pos="21000">
                        <a:prstClr val="black">
                          <a:lumMod val="75000"/>
                          <a:lumOff val="25000"/>
                        </a:prstClr>
                      </a:gs>
                    </a:gsLst>
                    <a:lin ang="5400000" scaled="0"/>
                  </a:gradFill>
                  <a:latin typeface="맑은 고딕"/>
                  <a:ea typeface="맑은 고딕"/>
                </a:rPr>
                <a:t>PaaS</a:t>
              </a:r>
            </a:p>
          </p:txBody>
        </p:sp>
        <p:pic>
          <p:nvPicPr>
            <p:cNvPr id="14" name="그림 13">
              <a:extLst>
                <a:ext uri="{FF2B5EF4-FFF2-40B4-BE49-F238E27FC236}">
                  <a16:creationId xmlns:a16="http://schemas.microsoft.com/office/drawing/2014/main" id="{C180715E-06A2-9B1A-5CA7-B8BE344B4850}"/>
                </a:ext>
              </a:extLst>
            </p:cNvPr>
            <p:cNvPicPr/>
            <p:nvPr/>
          </p:nvPicPr>
          <p:blipFill rotWithShape="1">
            <a:blip r:embed="rId3"/>
            <a:srcRect/>
            <a:stretch>
              <a:fillRect/>
            </a:stretch>
          </p:blipFill>
          <p:spPr>
            <a:xfrm>
              <a:off x="983148" y="1528998"/>
              <a:ext cx="194400" cy="194400"/>
            </a:xfrm>
            <a:prstGeom prst="rect">
              <a:avLst/>
            </a:prstGeom>
          </p:spPr>
        </p:pic>
      </p:grp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760ADCA-297E-BE41-CDC1-4A70EC0520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7081069"/>
              </p:ext>
            </p:extLst>
          </p:nvPr>
        </p:nvGraphicFramePr>
        <p:xfrm>
          <a:off x="560388" y="1628774"/>
          <a:ext cx="8785224" cy="1542688"/>
        </p:xfrm>
        <a:graphic>
          <a:graphicData uri="http://schemas.openxmlformats.org/drawingml/2006/table">
            <a:tbl>
              <a:tblPr/>
              <a:tblGrid>
                <a:gridCol w="5717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515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7294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934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59282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9074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5736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5410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전산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센터</a:t>
                      </a:r>
                      <a:endParaRPr kumimoji="0" lang="en-US" sz="900" b="1" i="0" u="none" strike="noStrike" kern="1200" cap="none" spc="-50" normalizeH="0" baseline="0" dirty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법인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작업일</a:t>
                      </a:r>
                      <a:endParaRPr kumimoji="0" lang="ko-KR" alt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지원</a:t>
                      </a:r>
                    </a:p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유형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>
                        <a:lumMod val="7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작업 내역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이슈 사항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gradFill>
                            <a:gsLst>
                              <a:gs pos="47920">
                                <a:schemeClr val="bg1"/>
                              </a:gs>
                              <a:gs pos="35830">
                                <a:schemeClr val="bg1"/>
                              </a:gs>
                            </a:gsLst>
                            <a:lin ang="5400000" scaled="0"/>
                          </a:gra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비고</a:t>
                      </a:r>
                      <a:endParaRPr kumimoji="0" lang="en-US" sz="900" b="1" i="0" u="none" strike="noStrike" kern="1200" cap="none" spc="-50" normalizeH="0" baseline="0">
                        <a:gradFill>
                          <a:gsLst>
                            <a:gs pos="47920">
                              <a:schemeClr val="bg1"/>
                            </a:gs>
                            <a:gs pos="35830">
                              <a:schemeClr val="bg1"/>
                            </a:gs>
                          </a:gsLst>
                          <a:lin ang="5400000" scaled="0"/>
                        </a:gra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007DB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66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DR</a:t>
                      </a: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AWS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은행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8/28</a:t>
                      </a:r>
                      <a:endParaRPr kumimoji="0" lang="en-US" altLang="ko-KR" sz="900" b="1" i="0" u="none" strike="noStrike" kern="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8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월 정기점검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6638"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개발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운영</a:t>
                      </a:r>
                    </a:p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DR</a:t>
                      </a:r>
                      <a:endParaRPr kumimoji="0" lang="ko-KR" altLang="en-US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중앙회</a:t>
                      </a:r>
                      <a:endParaRPr kumimoji="0" lang="ko-KR" altLang="en-US" sz="900" b="1" i="0" u="none" strike="noStrike" kern="1200" cap="none" spc="-50" normalizeH="0" baseline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1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en-US" altLang="ko-KR" sz="900" b="1" i="0" u="none" strike="noStrike" kern="0" cap="none" spc="-50" normalizeH="0" baseline="0" dirty="0"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맑은 고딕"/>
                          <a:ea typeface="맑은 고딕"/>
                          <a:cs typeface="+mn-cs"/>
                        </a:rPr>
                        <a:t>8/28</a:t>
                      </a:r>
                      <a:endParaRPr kumimoji="0" lang="en-US" altLang="ko-KR" sz="900" b="1" i="0" u="none" strike="noStrike" kern="0" cap="none" spc="-50" normalizeH="0" baseline="0" dirty="0">
                        <a:solidFill>
                          <a:schemeClr val="tx1"/>
                        </a:solidFill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방문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>
                        <a:lumMod val="95000"/>
                      </a:sysClr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87313" marR="0" lvl="0" indent="-8731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 typeface="Arial"/>
                        <a:buChar char="•"/>
                        <a:defRPr/>
                      </a:pPr>
                      <a:r>
                        <a:rPr kumimoji="0" lang="en-US" altLang="ko-KR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8</a:t>
                      </a: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월 정기점검</a:t>
                      </a:r>
                      <a:endParaRPr kumimoji="0" lang="en-US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90488" marR="0" lvl="0" indent="-80963" algn="l" defTabSz="914400" rtl="0" eaLnBrk="1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tx1">
                            <a:lumMod val="65000"/>
                            <a:lumOff val="35000"/>
                          </a:schemeClr>
                        </a:buClr>
                        <a:buSzPct val="100000"/>
                        <a:buFont typeface="Arial"/>
                        <a:buChar char="•"/>
                        <a:defRPr/>
                      </a:pPr>
                      <a:r>
                        <a:rPr kumimoji="0" lang="ko-KR" altLang="en-US" sz="900" b="0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특이사항 없음</a:t>
                      </a:r>
                      <a:endParaRPr kumimoji="0" lang="ko-KR" altLang="ko-KR" sz="900" b="0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1pPr>
                      <a:lvl2pPr marL="457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2pPr>
                      <a:lvl3pPr marL="914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3pPr>
                      <a:lvl4pPr marL="1371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4pPr>
                      <a:lvl5pPr marL="18288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5pPr>
                      <a:lvl6pPr marL="22860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6pPr>
                      <a:lvl7pPr marL="27432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7pPr>
                      <a:lvl8pPr marL="32004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8pPr>
                      <a:lvl9pPr marL="3657600" algn="l" defTabSz="914400" rtl="0" eaLnBrk="1" latinLnBrk="1" hangingPunct="1">
                        <a:defRPr sz="1800" kern="1200">
                          <a:solidFill>
                            <a:schemeClr val="dk1"/>
                          </a:solidFill>
                          <a:latin typeface="맑은 고딕"/>
                        </a:defRPr>
                      </a:lvl9pPr>
                    </a:lstStyle>
                    <a:p>
                      <a:pPr marL="0" marR="0" lvl="0" indent="0" algn="ctr" defTabSz="914400" rtl="0" eaLnBrk="0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FontTx/>
                        <a:buNone/>
                        <a:defRPr/>
                      </a:pPr>
                      <a:r>
                        <a:rPr kumimoji="0" lang="ko-KR" altLang="en-US" sz="900" b="1" i="0" u="none" strike="noStrike" kern="1200" cap="none" spc="-50" normalizeH="0" baseline="0" dirty="0">
                          <a:solidFill>
                            <a:schemeClr val="tx1">
                              <a:lumMod val="75000"/>
                              <a:lumOff val="25000"/>
                            </a:schemeClr>
                          </a:solidFill>
                          <a:effectLst/>
                          <a:latin typeface="맑은 고딕"/>
                          <a:ea typeface="맑은 고딕"/>
                          <a:cs typeface="+mn-cs"/>
                        </a:rPr>
                        <a:t>완료</a:t>
                      </a:r>
                      <a:endParaRPr kumimoji="0" lang="en-US" altLang="ko-KR" sz="900" b="1" i="0" u="none" strike="noStrike" kern="1200" cap="none" spc="-50" normalizeH="0" baseline="0" dirty="0">
                        <a:solidFill>
                          <a:schemeClr val="tx1">
                            <a:lumMod val="75000"/>
                            <a:lumOff val="25000"/>
                          </a:schemeClr>
                        </a:solidFill>
                        <a:effectLst/>
                        <a:latin typeface="맑은 고딕"/>
                        <a:ea typeface="맑은 고딕"/>
                        <a:cs typeface="+mn-cs"/>
                      </a:endParaRPr>
                    </a:p>
                  </a:txBody>
                  <a:tcPr marL="33231" marR="33231" marT="36000" marB="36000" anchor="ctr">
                    <a:lnL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w="med" len="med"/>
                      <a:tailEnd w="med" len="med"/>
                    </a:lnR>
                    <a:lnT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ysClr val="window" lastClr="FFFFFF">
                          <a:lumMod val="75000"/>
                        </a:sys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ysClr val="window" lastClr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6920541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04192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=""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1864</TotalTime>
  <Words>2298</Words>
  <Application>Microsoft Office PowerPoint</Application>
  <PresentationFormat>와이드스크린</PresentationFormat>
  <Paragraphs>635</Paragraphs>
  <Slides>12</Slides>
  <Notes>2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12</vt:i4>
      </vt:variant>
    </vt:vector>
  </HeadingPairs>
  <TitlesOfParts>
    <vt:vector size="19" baseType="lpstr">
      <vt:lpstr>Rix고딕 L</vt:lpstr>
      <vt:lpstr>맑은 고딕</vt:lpstr>
      <vt:lpstr>맑은고딕</vt:lpstr>
      <vt:lpstr>Arial</vt:lpstr>
      <vt:lpstr>Calibri</vt:lpstr>
      <vt:lpstr>Wingdings</vt:lpstr>
      <vt:lpstr>한컴오피스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안용식</dc:creator>
  <cp:lastModifiedBy>이승화</cp:lastModifiedBy>
  <cp:revision>59</cp:revision>
  <dcterms:created xsi:type="dcterms:W3CDTF">2026-06-29T05:25:02Z</dcterms:created>
  <dcterms:modified xsi:type="dcterms:W3CDTF">2026-09-04T06:31:21Z</dcterms:modified>
  <cp:version>1100.0100.01</cp:version>
</cp:coreProperties>
</file>